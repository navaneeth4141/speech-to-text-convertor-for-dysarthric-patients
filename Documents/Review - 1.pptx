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handoutMasterIdLst>
    <p:handoutMasterId r:id="rId22"/>
  </p:handoutMasterIdLst>
  <p:sldIdLst>
    <p:sldId id="712" r:id="rId3"/>
    <p:sldId id="714" r:id="rId5"/>
    <p:sldId id="711" r:id="rId6"/>
    <p:sldId id="710" r:id="rId7"/>
    <p:sldId id="696" r:id="rId8"/>
    <p:sldId id="697" r:id="rId9"/>
    <p:sldId id="698" r:id="rId10"/>
    <p:sldId id="704" r:id="rId11"/>
    <p:sldId id="715" r:id="rId12"/>
    <p:sldId id="699" r:id="rId13"/>
    <p:sldId id="705" r:id="rId14"/>
    <p:sldId id="700" r:id="rId15"/>
    <p:sldId id="701" r:id="rId16"/>
    <p:sldId id="706" r:id="rId17"/>
    <p:sldId id="707" r:id="rId18"/>
    <p:sldId id="708" r:id="rId19"/>
    <p:sldId id="702" r:id="rId20"/>
    <p:sldId id="709" r:id="rId21"/>
  </p:sldIdLst>
  <p:sldSz cx="9144000" cy="5143500" type="screen16x9"/>
  <p:notesSz cx="6858000" cy="9296400"/>
  <p:embeddedFontLst>
    <p:embeddedFont>
      <p:font typeface="Garamond" panose="02020404030301010803" charset="0"/>
      <p:regular r:id="rId26"/>
      <p:bold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08" userDrawn="1">
          <p15:clr>
            <a:srgbClr val="A4A3A4"/>
          </p15:clr>
        </p15:guide>
        <p15:guide id="2" orient="horz" pos="302" userDrawn="1">
          <p15:clr>
            <a:srgbClr val="A4A3A4"/>
          </p15:clr>
        </p15:guide>
        <p15:guide id="3" orient="horz" pos="2904" userDrawn="1">
          <p15:clr>
            <a:srgbClr val="A4A3A4"/>
          </p15:clr>
        </p15:guide>
        <p15:guide id="4" orient="horz" pos="488" userDrawn="1">
          <p15:clr>
            <a:srgbClr val="A4A3A4"/>
          </p15:clr>
        </p15:guide>
        <p15:guide id="5" pos="576" userDrawn="1">
          <p15:clr>
            <a:srgbClr val="A4A3A4"/>
          </p15:clr>
        </p15:guide>
        <p15:guide id="7" pos="2908" userDrawn="1">
          <p15:clr>
            <a:srgbClr val="A4A3A4"/>
          </p15:clr>
        </p15:guide>
        <p15:guide id="8" pos="5172" userDrawn="1">
          <p15:clr>
            <a:srgbClr val="A4A3A4"/>
          </p15:clr>
        </p15:guide>
        <p15:guide id="9" pos="6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7B46E"/>
    <a:srgbClr val="E61E1E"/>
    <a:srgbClr val="FFFF00"/>
    <a:srgbClr val="005094"/>
    <a:srgbClr val="004170"/>
    <a:srgbClr val="959596"/>
    <a:srgbClr val="F0F1F1"/>
    <a:srgbClr val="004670"/>
    <a:srgbClr val="00468C"/>
    <a:srgbClr val="004D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89011" autoAdjust="0"/>
  </p:normalViewPr>
  <p:slideViewPr>
    <p:cSldViewPr snapToGrid="0" showGuides="1">
      <p:cViewPr varScale="1">
        <p:scale>
          <a:sx n="112" d="100"/>
          <a:sy n="112" d="100"/>
        </p:scale>
        <p:origin x="547" y="86"/>
      </p:cViewPr>
      <p:guideLst>
        <p:guide orient="horz" pos="2808"/>
        <p:guide orient="horz" pos="302"/>
        <p:guide orient="horz" pos="2904"/>
        <p:guide orient="horz" pos="488"/>
        <p:guide pos="576"/>
        <p:guide pos="2908"/>
        <p:guide pos="5172"/>
        <p:guide pos="653"/>
      </p:guideLst>
    </p:cSldViewPr>
  </p:slideViewPr>
  <p:notesTextViewPr>
    <p:cViewPr>
      <p:scale>
        <a:sx n="100" d="100"/>
        <a:sy n="100" d="100"/>
      </p:scale>
      <p:origin x="0" y="0"/>
    </p:cViewPr>
  </p:notesTextViewPr>
  <p:sorterViewPr>
    <p:cViewPr>
      <p:scale>
        <a:sx n="71" d="100"/>
        <a:sy n="71" d="100"/>
      </p:scale>
      <p:origin x="0" y="0"/>
    </p:cViewPr>
  </p:sorterViewPr>
  <p:notesViewPr>
    <p:cSldViewPr snapToGrid="0">
      <p:cViewPr varScale="1">
        <p:scale>
          <a:sx n="86" d="100"/>
          <a:sy n="86" d="100"/>
        </p:scale>
        <p:origin x="-3894" y="-96"/>
      </p:cViewPr>
      <p:guideLst>
        <p:guide orient="horz" pos="2592"/>
        <p:guide orient="horz" pos="5484"/>
        <p:guide orient="horz" pos="5670"/>
        <p:guide pos="288"/>
        <p:guide pos="4033"/>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3" name="Notes Placeholder 2"/>
          <p:cNvSpPr>
            <a:spLocks noGrp="1"/>
          </p:cNvSpPr>
          <p:nvPr>
            <p:ph type="body" sz="quarter" idx="3"/>
          </p:nvPr>
        </p:nvSpPr>
        <p:spPr>
          <a:xfrm>
            <a:off x="685800" y="4416425"/>
            <a:ext cx="5486400" cy="4183063"/>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hf hdr="0" ftr="0" dt="0"/>
  <p:notesStyle>
    <a:lvl1pPr marL="114300" indent="-114300" algn="l" defTabSz="914400" rtl="0" eaLnBrk="1" latinLnBrk="0" hangingPunct="1">
      <a:spcBef>
        <a:spcPts val="8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285750" indent="-113030" algn="l" defTabSz="914400" rtl="0" eaLnBrk="1" latinLnBrk="0" hangingPunct="1">
      <a:spcBef>
        <a:spcPts val="200"/>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Font typeface="Arial" panose="020B060402020202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570230" indent="-113030" algn="l" defTabSz="914400" rtl="0" eaLnBrk="1" latinLnBrk="0" hangingPunct="1">
      <a:spcBef>
        <a:spcPts val="200"/>
      </a:spcBef>
      <a:buFont typeface="Arial" panose="020B0604020202020204" pitchFamily="34" charset="0"/>
      <a:buChar char="•"/>
      <a:defRPr sz="1050" kern="1200">
        <a:solidFill>
          <a:schemeClr val="tx1"/>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anose="020B0604020202020204" pitchFamily="34" charset="0"/>
      <a:buChar char="•"/>
      <a:defRPr sz="1050" kern="1200">
        <a:solidFill>
          <a:schemeClr val="tx1"/>
        </a:solidFill>
        <a:latin typeface="+mn-lt"/>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2750" y="400050"/>
            <a:ext cx="6197600" cy="3486150"/>
          </a:xfrm>
        </p:spPr>
      </p:sp>
      <p:sp>
        <p:nvSpPr>
          <p:cNvPr id="3" name="Notes Placeholder 2"/>
          <p:cNvSpPr>
            <a:spLocks noGrp="1"/>
          </p:cNvSpPr>
          <p:nvPr>
            <p:ph type="body" idx="1"/>
          </p:nvPr>
        </p:nvSpPr>
        <p:spPr/>
        <p:txBody>
          <a:bodyPr/>
          <a:lstStyle/>
          <a:p>
            <a:pPr marL="0" indent="0">
              <a:buFontTx/>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bg>
      <p:bgPr>
        <a:gradFill flip="none" rotWithShape="1">
          <a:gsLst>
            <a:gs pos="0">
              <a:srgbClr val="F1F2F2"/>
            </a:gs>
            <a:gs pos="100000">
              <a:srgbClr val="EBEBEC"/>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6" name="Rectangle 5"/>
          <p:cNvSpPr/>
          <p:nvPr userDrawn="1"/>
        </p:nvSpPr>
        <p:spPr bwMode="auto">
          <a:xfrm>
            <a:off x="0" y="0"/>
            <a:ext cx="9143999" cy="1718222"/>
          </a:xfrm>
          <a:prstGeom prst="rect">
            <a:avLst/>
          </a:prstGeom>
          <a:gradFill flip="none" rotWithShape="1">
            <a:gsLst>
              <a:gs pos="0">
                <a:srgbClr val="004170"/>
              </a:gs>
              <a:gs pos="50000">
                <a:srgbClr val="005094"/>
              </a:gs>
              <a:gs pos="100000">
                <a:srgbClr val="004170"/>
              </a:gs>
            </a:gsLst>
            <a:path path="circle">
              <a:fillToRect l="100000" t="100000"/>
            </a:path>
            <a:tileRect r="-100000" b="-100000"/>
          </a:gradFill>
          <a:ln w="19050" algn="ctr">
            <a:noFill/>
            <a:miter lim="800000"/>
          </a:ln>
        </p:spPr>
        <p:txBody>
          <a:bodyPr wrap="none" rtlCol="0" anchor="ctr"/>
          <a:lstStyle/>
          <a:p>
            <a:pPr algn="ctr">
              <a:lnSpc>
                <a:spcPct val="90000"/>
              </a:lnSpc>
            </a:pPr>
            <a:endParaRPr lang="en-US" sz="1600" b="1" dirty="0" err="1">
              <a:solidFill>
                <a:schemeClr val="bg1"/>
              </a:solidFill>
              <a:latin typeface="+mj-lt"/>
            </a:endParaRPr>
          </a:p>
        </p:txBody>
      </p:sp>
      <p:sp>
        <p:nvSpPr>
          <p:cNvPr id="35" name="Title 34"/>
          <p:cNvSpPr>
            <a:spLocks noGrp="1"/>
          </p:cNvSpPr>
          <p:nvPr>
            <p:ph type="title" hasCustomPrompt="1"/>
          </p:nvPr>
        </p:nvSpPr>
        <p:spPr>
          <a:xfrm>
            <a:off x="1039439" y="2180420"/>
            <a:ext cx="7069512" cy="517065"/>
          </a:xfrm>
        </p:spPr>
        <p:txBody>
          <a:bodyPr vert="horz" wrap="square" lIns="0" tIns="0" rIns="0" bIns="45720" rtlCol="0" anchor="b">
            <a:spAutoFit/>
          </a:bodyPr>
          <a:lstStyle>
            <a:lvl1pPr marL="0" marR="0" indent="0" algn="l" defTabSz="914400" rtl="0" eaLnBrk="1" fontAlgn="auto" latinLnBrk="0" hangingPunct="1">
              <a:lnSpc>
                <a:spcPct val="90000"/>
              </a:lnSpc>
              <a:spcBef>
                <a:spcPct val="0"/>
              </a:spcBef>
              <a:spcAft>
                <a:spcPts val="0"/>
              </a:spcAft>
              <a:buClrTx/>
              <a:buSzTx/>
              <a:buFontTx/>
              <a:buNone/>
              <a:defRPr kumimoji="0" lang="en-US" sz="3400" b="0" i="0" u="none" strike="noStrike" kern="1200" cap="none" spc="0" normalizeH="0" baseline="0" noProof="0">
                <a:ln>
                  <a:noFill/>
                </a:ln>
                <a:solidFill>
                  <a:srgbClr val="004170"/>
                </a:solidFill>
                <a:effectLst/>
                <a:uLnTx/>
                <a:uFillTx/>
                <a:latin typeface="+mj-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dirty="0"/>
              <a:t>Presentation Title Here</a:t>
            </a:r>
            <a:endParaRPr lang="en-US" dirty="0"/>
          </a:p>
        </p:txBody>
      </p:sp>
      <p:sp>
        <p:nvSpPr>
          <p:cNvPr id="38" name="Text Placeholder 2"/>
          <p:cNvSpPr>
            <a:spLocks noGrp="1"/>
          </p:cNvSpPr>
          <p:nvPr>
            <p:ph type="body" idx="1" hasCustomPrompt="1"/>
          </p:nvPr>
        </p:nvSpPr>
        <p:spPr>
          <a:xfrm>
            <a:off x="1039438" y="2685678"/>
            <a:ext cx="7069512" cy="380873"/>
          </a:xfrm>
        </p:spPr>
        <p:txBody>
          <a:bodyPr anchor="t" anchorCtr="0">
            <a:noAutofit/>
          </a:bodyPr>
          <a:lstStyle>
            <a:lvl1pPr marL="0" indent="0" algn="l" defTabSz="914400" rtl="0" eaLnBrk="1" latinLnBrk="0" hangingPunct="1">
              <a:lnSpc>
                <a:spcPct val="90000"/>
              </a:lnSpc>
              <a:spcBef>
                <a:spcPts val="600"/>
              </a:spcBef>
              <a:buFont typeface="Arial" panose="020B0604020202020204" pitchFamily="34" charset="0"/>
              <a:buNone/>
              <a:defRPr sz="2600" i="0" spc="0" baseline="0">
                <a:solidFill>
                  <a:srgbClr val="525252"/>
                </a:solidFill>
                <a:latin typeface="+mj-lt"/>
                <a:ea typeface="Roboto" panose="02000000000000000000" pitchFamily="2" charset="0"/>
                <a:cs typeface="Roboto" panose="02000000000000000000"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lnSpc>
                <a:spcPct val="75000"/>
              </a:lnSpc>
              <a:spcBef>
                <a:spcPts val="1400"/>
              </a:spcBef>
              <a:buFont typeface="Arial" panose="020B0604020202020204" pitchFamily="34" charset="0"/>
              <a:buNone/>
            </a:pPr>
            <a:r>
              <a:rPr lang="en-US" dirty="0"/>
              <a:t>Subtitle Title Here</a:t>
            </a:r>
            <a:endParaRPr lang="en-US" dirty="0"/>
          </a:p>
        </p:txBody>
      </p:sp>
      <p:sp>
        <p:nvSpPr>
          <p:cNvPr id="3" name="Text Placeholder 2"/>
          <p:cNvSpPr>
            <a:spLocks noGrp="1"/>
          </p:cNvSpPr>
          <p:nvPr>
            <p:ph type="body" sz="quarter" idx="10" hasCustomPrompt="1"/>
          </p:nvPr>
        </p:nvSpPr>
        <p:spPr>
          <a:xfrm>
            <a:off x="1036637" y="3311968"/>
            <a:ext cx="7072313" cy="872001"/>
          </a:xfrm>
        </p:spPr>
        <p:txBody>
          <a:bodyPr vert="horz" wrap="square" lIns="0" tIns="0" rIns="0" bIns="45720" rtlCol="0" anchor="t" anchorCtr="0"/>
          <a:lstStyle>
            <a:lvl1pPr marL="0" indent="0">
              <a:lnSpc>
                <a:spcPct val="100000"/>
              </a:lnSpc>
              <a:spcBef>
                <a:spcPts val="0"/>
              </a:spcBef>
              <a:buFontTx/>
              <a:buNone/>
              <a:defRPr lang="en-US" sz="1800" i="0" baseline="0" dirty="0" smtClean="0">
                <a:solidFill>
                  <a:srgbClr val="525252"/>
                </a:solidFill>
                <a:latin typeface="+mn-lt"/>
                <a:ea typeface="Roboto" panose="02000000000000000000" pitchFamily="2" charset="0"/>
                <a:cs typeface="Roboto" panose="02000000000000000000" pitchFamily="2"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endParaRPr lang="en-US" dirty="0"/>
          </a:p>
          <a:p>
            <a:pPr marL="0" lvl="0"/>
            <a:r>
              <a:rPr lang="en-US" dirty="0"/>
              <a:t>Department Name</a:t>
            </a:r>
            <a:endParaRPr lang="en-US" dirty="0"/>
          </a:p>
          <a:p>
            <a:pPr marL="0" lvl="0"/>
            <a:r>
              <a:rPr lang="en-US" dirty="0"/>
              <a:t>Presentation Date</a:t>
            </a:r>
            <a:endParaRPr lang="en-US" dirty="0"/>
          </a:p>
        </p:txBody>
      </p:sp>
      <p:pic>
        <p:nvPicPr>
          <p:cNvPr id="4" name="Picture 3" descr="A black and white sign with white text&#10;&#10;Description automatically generated"/>
          <p:cNvPicPr>
            <a:picLocks noChangeAspect="1"/>
          </p:cNvPicPr>
          <p:nvPr userDrawn="1"/>
        </p:nvPicPr>
        <p:blipFill>
          <a:blip r:embed="rId2"/>
          <a:stretch>
            <a:fillRect/>
          </a:stretch>
        </p:blipFill>
        <p:spPr>
          <a:xfrm>
            <a:off x="1036637" y="552043"/>
            <a:ext cx="3535363" cy="814976"/>
          </a:xfrm>
          <a:prstGeom prst="rect">
            <a:avLst/>
          </a:prstGeom>
        </p:spPr>
      </p:pic>
      <p:sp>
        <p:nvSpPr>
          <p:cNvPr id="2"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rgbClr val="005094"/>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1281272"/>
            <a:ext cx="8349916" cy="3329229"/>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2100"/>
            </a:lvl2pPr>
            <a:lvl3pPr marL="742950" indent="-227330">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3180" indent="-227330">
              <a:buClr>
                <a:srgbClr val="005094"/>
              </a:buClr>
              <a:buFont typeface="Arial" panose="020B0604020202020204" pitchFamily="34" charset="0"/>
              <a:buChar char="•"/>
              <a:defRPr sz="2100"/>
            </a:lvl5pPr>
          </a:lstStyle>
          <a:p>
            <a:pPr lvl="0"/>
            <a:r>
              <a:rPr lang="en-US" dirty="0"/>
              <a:t>Click to edit Master text styles Arial 21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Text Placeholder 5"/>
          <p:cNvSpPr>
            <a:spLocks noGrp="1"/>
          </p:cNvSpPr>
          <p:nvPr>
            <p:ph type="body" sz="quarter" idx="12" hasCustomPrompt="1"/>
          </p:nvPr>
        </p:nvSpPr>
        <p:spPr>
          <a:xfrm>
            <a:off x="442762" y="811374"/>
            <a:ext cx="834991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defRPr/>
            </a:pPr>
            <a:r>
              <a:rPr lang="en-US" dirty="0"/>
              <a:t>Subhead Arial 24 pt</a:t>
            </a:r>
            <a:endParaRPr lang="en-US" dirty="0"/>
          </a:p>
        </p:txBody>
      </p:sp>
      <p:sp>
        <p:nvSpPr>
          <p:cNvPr id="5"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8349916" cy="3696101"/>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2100"/>
            </a:lvl2pPr>
            <a:lvl3pPr marL="742950" indent="-227330">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3180" indent="-227330">
              <a:buClr>
                <a:srgbClr val="005094"/>
              </a:buClr>
              <a:buFont typeface="Arial" panose="020B0604020202020204" pitchFamily="34" charset="0"/>
              <a:buChar char="•"/>
              <a:defRPr sz="2100"/>
            </a:lvl5pPr>
          </a:lstStyle>
          <a:p>
            <a:pPr lvl="0"/>
            <a:r>
              <a:rPr lang="en-US" dirty="0"/>
              <a:t>Click to edit Master text styles Arial 21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4129238" cy="3696101"/>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Content Placeholder 2"/>
          <p:cNvSpPr>
            <a:spLocks noGrp="1"/>
          </p:cNvSpPr>
          <p:nvPr>
            <p:ph idx="10" hasCustomPrompt="1"/>
          </p:nvPr>
        </p:nvSpPr>
        <p:spPr>
          <a:xfrm>
            <a:off x="4719587" y="914399"/>
            <a:ext cx="4073090" cy="36961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cxnSp>
        <p:nvCxnSpPr>
          <p:cNvPr id="8" name="Straight Connector 7"/>
          <p:cNvCxnSpPr/>
          <p:nvPr userDrawn="1"/>
        </p:nvCxnSpPr>
        <p:spPr>
          <a:xfrm>
            <a:off x="4648200" y="914399"/>
            <a:ext cx="0" cy="3696101"/>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Slide Number Placeholder 4"/>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1231900"/>
            <a:ext cx="4073091" cy="3378601"/>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Content Placeholder 2"/>
          <p:cNvSpPr>
            <a:spLocks noGrp="1"/>
          </p:cNvSpPr>
          <p:nvPr>
            <p:ph idx="10" hasCustomPrompt="1"/>
          </p:nvPr>
        </p:nvSpPr>
        <p:spPr>
          <a:xfrm>
            <a:off x="4719587" y="1231899"/>
            <a:ext cx="4073091" cy="33786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5"/>
          <p:cNvSpPr>
            <a:spLocks noGrp="1"/>
          </p:cNvSpPr>
          <p:nvPr>
            <p:ph type="body" sz="quarter" idx="12" hasCustomPrompt="1"/>
          </p:nvPr>
        </p:nvSpPr>
        <p:spPr>
          <a:xfrm>
            <a:off x="442762" y="811374"/>
            <a:ext cx="4073091" cy="391296"/>
          </a:xfrm>
        </p:spPr>
        <p:txBody>
          <a:bodyPr/>
          <a:lstStyle>
            <a:lvl1pPr marL="0" indent="0">
              <a:buNone/>
              <a:defRPr sz="2100" b="0" baseline="0">
                <a:latin typeface="+mj-lt"/>
              </a:defRPr>
            </a:lvl1pPr>
          </a:lstStyle>
          <a:p>
            <a:pPr lvl="0"/>
            <a:r>
              <a:rPr lang="en-US" dirty="0"/>
              <a:t>Subhead</a:t>
            </a:r>
            <a:endParaRPr lang="en-US" dirty="0"/>
          </a:p>
        </p:txBody>
      </p:sp>
      <p:sp>
        <p:nvSpPr>
          <p:cNvPr id="6" name="Text Placeholder 5"/>
          <p:cNvSpPr>
            <a:spLocks noGrp="1"/>
          </p:cNvSpPr>
          <p:nvPr>
            <p:ph type="body" sz="quarter" idx="13" hasCustomPrompt="1"/>
          </p:nvPr>
        </p:nvSpPr>
        <p:spPr>
          <a:xfrm>
            <a:off x="4719587" y="811374"/>
            <a:ext cx="4073091" cy="391296"/>
          </a:xfrm>
        </p:spPr>
        <p:txBody>
          <a:bodyPr/>
          <a:lstStyle>
            <a:lvl1pPr marL="0" indent="0">
              <a:buNone/>
              <a:defRPr sz="2100" b="0" baseline="0">
                <a:latin typeface="+mj-lt"/>
              </a:defRPr>
            </a:lvl1pPr>
          </a:lstStyle>
          <a:p>
            <a:pPr lvl="0"/>
            <a:r>
              <a:rPr lang="en-US" dirty="0"/>
              <a:t>Subhead</a:t>
            </a:r>
            <a:endParaRPr lang="en-US" dirty="0"/>
          </a:p>
        </p:txBody>
      </p:sp>
      <p:cxnSp>
        <p:nvCxnSpPr>
          <p:cNvPr id="7" name="Straight Connector 6"/>
          <p:cNvCxnSpPr/>
          <p:nvPr userDrawn="1"/>
        </p:nvCxnSpPr>
        <p:spPr>
          <a:xfrm>
            <a:off x="4615542" y="811374"/>
            <a:ext cx="0" cy="3799126"/>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Slide Number Placeholder 7"/>
          <p:cNvSpPr>
            <a:spLocks noGrp="1"/>
          </p:cNvSpPr>
          <p:nvPr>
            <p:ph type="sldNum" sz="quarter" idx="14"/>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3" y="224941"/>
            <a:ext cx="4172780"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4129238" cy="3909599"/>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Rectangle 4"/>
          <p:cNvSpPr/>
          <p:nvPr userDrawn="1"/>
        </p:nvSpPr>
        <p:spPr bwMode="auto">
          <a:xfrm>
            <a:off x="4615543" y="-1"/>
            <a:ext cx="4528457" cy="4824000"/>
          </a:xfrm>
          <a:prstGeom prst="rect">
            <a:avLst/>
          </a:prstGeom>
          <a:solidFill>
            <a:schemeClr val="accent3">
              <a:lumMod val="20000"/>
              <a:lumOff val="80000"/>
            </a:schemeClr>
          </a:solidFill>
          <a:ln w="19050" algn="ctr">
            <a:noFill/>
            <a:miter lim="800000"/>
          </a:ln>
        </p:spPr>
        <p:txBody>
          <a:bodyPr wrap="none" rtlCol="0" anchor="ctr"/>
          <a:lstStyle/>
          <a:p>
            <a:pPr algn="ctr">
              <a:lnSpc>
                <a:spcPct val="90000"/>
              </a:lnSpc>
            </a:pPr>
            <a:endParaRPr lang="en-IN" sz="1600" b="1" dirty="0" err="1">
              <a:solidFill>
                <a:schemeClr val="bg1"/>
              </a:solidFill>
              <a:latin typeface="+mj-lt"/>
            </a:endParaRPr>
          </a:p>
        </p:txBody>
      </p:sp>
      <p:pic>
        <p:nvPicPr>
          <p:cNvPr id="10" name="Picture 9" descr="A blue and black logo&#10;&#10;Description automatically generated"/>
          <p:cNvPicPr>
            <a:picLocks noChangeAspect="1"/>
          </p:cNvPicPr>
          <p:nvPr userDrawn="1"/>
        </p:nvPicPr>
        <p:blipFill rotWithShape="1">
          <a:blip r:embed="rId2"/>
          <a:srcRect r="74035"/>
          <a:stretch>
            <a:fillRect/>
          </a:stretch>
        </p:blipFill>
        <p:spPr>
          <a:xfrm>
            <a:off x="8366780" y="118792"/>
            <a:ext cx="712936" cy="720000"/>
          </a:xfrm>
          <a:prstGeom prst="rect">
            <a:avLst/>
          </a:prstGeom>
        </p:spPr>
      </p:pic>
      <p:sp>
        <p:nvSpPr>
          <p:cNvPr id="11" name="Content Placeholder 2"/>
          <p:cNvSpPr>
            <a:spLocks noGrp="1"/>
          </p:cNvSpPr>
          <p:nvPr>
            <p:ph idx="10" hasCustomPrompt="1"/>
          </p:nvPr>
        </p:nvSpPr>
        <p:spPr>
          <a:xfrm>
            <a:off x="4757057" y="224941"/>
            <a:ext cx="4031264" cy="4599058"/>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2" name="Slide Number Placeholder 11"/>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2" name="Text Placeholder 3"/>
          <p:cNvSpPr>
            <a:spLocks noGrp="1"/>
          </p:cNvSpPr>
          <p:nvPr>
            <p:ph type="body" sz="quarter" idx="10" hasCustomPrompt="1"/>
          </p:nvPr>
        </p:nvSpPr>
        <p:spPr>
          <a:xfrm>
            <a:off x="444366" y="903514"/>
            <a:ext cx="8348312" cy="3733799"/>
          </a:xfrm>
        </p:spPr>
        <p:txBody>
          <a:bodyPr/>
          <a:lstStyle>
            <a:lvl1pPr marL="0" indent="0">
              <a:buFontTx/>
              <a:buNone/>
              <a:defRPr sz="2100">
                <a:latin typeface="+mj-lt"/>
              </a:defRPr>
            </a:lvl1pPr>
          </a:lstStyle>
          <a:p>
            <a:pPr marL="0" marR="0" lvl="0" indent="0" algn="l" defTabSz="914400" rtl="0" eaLnBrk="1" fontAlgn="auto" latinLnBrk="0" hangingPunct="1">
              <a:lnSpc>
                <a:spcPct val="100000"/>
              </a:lnSpc>
              <a:spcBef>
                <a:spcPts val="1000"/>
              </a:spcBef>
              <a:spcAft>
                <a:spcPts val="0"/>
              </a:spcAft>
              <a:buClr>
                <a:srgbClr val="51237F"/>
              </a:buClr>
              <a:buSzTx/>
              <a:buFontTx/>
              <a:buNone/>
              <a:defRPr/>
            </a:pPr>
            <a:r>
              <a:rPr lang="en-US" dirty="0"/>
              <a:t>Subhead Arial 21 pt</a:t>
            </a:r>
            <a:endParaRPr lang="en-IN" dirty="0"/>
          </a:p>
          <a:p>
            <a:pPr marL="0" marR="0" lvl="0" indent="0" algn="l" defTabSz="914400" rtl="0" eaLnBrk="1" fontAlgn="auto" latinLnBrk="0" hangingPunct="1">
              <a:lnSpc>
                <a:spcPct val="100000"/>
              </a:lnSpc>
              <a:spcBef>
                <a:spcPts val="1000"/>
              </a:spcBef>
              <a:spcAft>
                <a:spcPts val="0"/>
              </a:spcAft>
              <a:buClr>
                <a:srgbClr val="51237F"/>
              </a:buClr>
              <a:buSzTx/>
              <a:buFontTx/>
              <a:buNone/>
              <a:defRPr/>
            </a:pPr>
            <a:endParaRPr lang="en-US" dirty="0"/>
          </a:p>
        </p:txBody>
      </p:sp>
      <p:sp>
        <p:nvSpPr>
          <p:cNvPr id="4" name="Slide Number Placeholder 3"/>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36639" y="998545"/>
            <a:ext cx="7072312" cy="2169825"/>
          </a:xfrm>
        </p:spPr>
        <p:txBody>
          <a:bodyPr vert="horz" wrap="square" lIns="91440" tIns="45720" rIns="91440" bIns="45720" rtlCol="0" anchor="b" anchorCtr="0">
            <a:spAutoFit/>
          </a:bodyPr>
          <a:lstStyle>
            <a:lvl1pPr marL="281305" indent="-91440">
              <a:lnSpc>
                <a:spcPct val="90000"/>
              </a:lnSpc>
              <a:defRPr lang="en-US" sz="3000" kern="2200" spc="0" baseline="0" dirty="0">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eu</a:t>
            </a:r>
            <a:r>
              <a:rPr lang="en-US" dirty="0"/>
              <a:t> </a:t>
            </a:r>
            <a:r>
              <a:rPr lang="en-US" dirty="0" err="1"/>
              <a:t>diam</a:t>
            </a:r>
            <a:r>
              <a:rPr lang="en-US" dirty="0"/>
              <a:t> </a:t>
            </a:r>
            <a:r>
              <a:rPr lang="en-US" dirty="0" err="1"/>
              <a:t>viverra</a:t>
            </a:r>
            <a:r>
              <a:rPr lang="en-US" dirty="0"/>
              <a:t>, semper </a:t>
            </a:r>
            <a:r>
              <a:rPr lang="en-US" dirty="0" err="1"/>
              <a:t>odio</a:t>
            </a:r>
            <a:r>
              <a:rPr lang="en-US" dirty="0"/>
              <a:t> </a:t>
            </a:r>
            <a:r>
              <a:rPr lang="en-US" dirty="0" err="1"/>
              <a:t>eu</a:t>
            </a:r>
            <a:r>
              <a:rPr lang="en-US" dirty="0"/>
              <a:t>, </a:t>
            </a:r>
            <a:r>
              <a:rPr lang="en-US" dirty="0" err="1"/>
              <a:t>interdum</a:t>
            </a:r>
            <a:r>
              <a:rPr lang="en-US" dirty="0"/>
              <a:t> </a:t>
            </a:r>
            <a:r>
              <a:rPr lang="en-US" dirty="0" err="1"/>
              <a:t>turpis</a:t>
            </a:r>
            <a:r>
              <a:rPr lang="en-US" dirty="0"/>
              <a:t>. </a:t>
            </a:r>
            <a:r>
              <a:rPr lang="en-US" dirty="0" err="1"/>
              <a:t>Proin</a:t>
            </a:r>
            <a:r>
              <a:rPr lang="en-US" dirty="0"/>
              <a:t> </a:t>
            </a:r>
            <a:r>
              <a:rPr lang="en-US" dirty="0" err="1"/>
              <a:t>placerat</a:t>
            </a:r>
            <a:r>
              <a:rPr lang="en-US" dirty="0"/>
              <a:t> ipsum mi, ac </a:t>
            </a:r>
            <a:r>
              <a:rPr lang="en-US" dirty="0" err="1"/>
              <a:t>sodales</a:t>
            </a:r>
            <a:r>
              <a:rPr lang="en-US" dirty="0"/>
              <a:t> </a:t>
            </a:r>
            <a:r>
              <a:rPr lang="en-US" dirty="0" err="1"/>
              <a:t>tellus</a:t>
            </a:r>
            <a:r>
              <a:rPr lang="en-US" dirty="0"/>
              <a:t> </a:t>
            </a:r>
            <a:r>
              <a:rPr lang="en-US" dirty="0" err="1"/>
              <a:t>congue</a:t>
            </a:r>
            <a:r>
              <a:rPr lang="en-US" dirty="0"/>
              <a:t> </a:t>
            </a:r>
            <a:r>
              <a:rPr lang="en-US" dirty="0" err="1"/>
              <a:t>amet</a:t>
            </a:r>
            <a:r>
              <a:rPr lang="en-US" dirty="0"/>
              <a:t> dolor.”</a:t>
            </a:r>
            <a:endParaRPr lang="en-US" dirty="0"/>
          </a:p>
        </p:txBody>
      </p:sp>
      <p:sp>
        <p:nvSpPr>
          <p:cNvPr id="3" name="Content Placeholder 2"/>
          <p:cNvSpPr>
            <a:spLocks noGrp="1"/>
          </p:cNvSpPr>
          <p:nvPr>
            <p:ph idx="1" hasCustomPrompt="1"/>
          </p:nvPr>
        </p:nvSpPr>
        <p:spPr>
          <a:xfrm>
            <a:off x="1036637" y="3383309"/>
            <a:ext cx="7072313" cy="541425"/>
          </a:xfrm>
        </p:spPr>
        <p:txBody>
          <a:bodyPr vert="horz" wrap="square" lIns="91440" tIns="45720" rIns="91440" bIns="45720" rtlCol="0">
            <a:noAutofit/>
          </a:bodyPr>
          <a:lstStyle>
            <a:lvl1pPr marL="0" indent="0" algn="r">
              <a:spcBef>
                <a:spcPts val="300"/>
              </a:spcBef>
              <a:buNone/>
              <a:defRPr lang="en-US" sz="1800" baseline="0" dirty="0" smtClean="0">
                <a:solidFill>
                  <a:srgbClr val="525252"/>
                </a:solidFill>
                <a:latin typeface="+mn-lt"/>
              </a:defRPr>
            </a:lvl1pPr>
            <a:lvl2pPr marL="229870" indent="0">
              <a:buNone/>
              <a:defRPr lang="en-US" dirty="0" smtClean="0"/>
            </a:lvl2pPr>
            <a:lvl3pPr marL="515620" indent="0">
              <a:buNone/>
              <a:defRPr lang="en-US" dirty="0" smtClean="0"/>
            </a:lvl3pPr>
            <a:lvl4pPr marL="800100" indent="0">
              <a:buNone/>
              <a:defRPr lang="en-US" dirty="0" smtClean="0"/>
            </a:lvl4pPr>
            <a:lvl5pPr marL="1085850" indent="0">
              <a:buNone/>
              <a:defRPr lang="en-US" dirty="0"/>
            </a:lvl5pPr>
          </a:lstStyle>
          <a:p>
            <a:pPr lvl="0"/>
            <a:r>
              <a:rPr lang="en-US" dirty="0"/>
              <a:t>—Author’s Name</a:t>
            </a:r>
            <a:endParaRPr lang="en-US" dirty="0"/>
          </a:p>
        </p:txBody>
      </p:sp>
      <p:sp>
        <p:nvSpPr>
          <p:cNvPr id="4" name="Slide Number Placeholder 3"/>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Closing Slide">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auto">
          <a:xfrm>
            <a:off x="0" y="0"/>
            <a:ext cx="9143999" cy="1955800"/>
          </a:xfrm>
          <a:prstGeom prst="rect">
            <a:avLst/>
          </a:prstGeom>
          <a:gradFill flip="none" rotWithShape="1">
            <a:gsLst>
              <a:gs pos="0">
                <a:srgbClr val="004170"/>
              </a:gs>
              <a:gs pos="50000">
                <a:srgbClr val="005094"/>
              </a:gs>
              <a:gs pos="100000">
                <a:srgbClr val="004170"/>
              </a:gs>
            </a:gsLst>
            <a:path path="circle">
              <a:fillToRect l="100000" t="100000"/>
            </a:path>
            <a:tileRect r="-100000" b="-100000"/>
          </a:gradFill>
          <a:ln w="19050" algn="ctr">
            <a:noFill/>
            <a:miter lim="800000"/>
          </a:ln>
        </p:spPr>
        <p:txBody>
          <a:bodyPr wrap="none" rtlCol="0" anchor="ctr"/>
          <a:lstStyle/>
          <a:p>
            <a:pPr algn="ctr">
              <a:lnSpc>
                <a:spcPct val="90000"/>
              </a:lnSpc>
            </a:pPr>
            <a:endParaRPr lang="en-US" sz="1600" b="1" dirty="0" err="1">
              <a:solidFill>
                <a:schemeClr val="bg1"/>
              </a:solidFill>
              <a:latin typeface="+mj-lt"/>
            </a:endParaRPr>
          </a:p>
        </p:txBody>
      </p:sp>
      <p:sp>
        <p:nvSpPr>
          <p:cNvPr id="8" name="Title 1"/>
          <p:cNvSpPr>
            <a:spLocks noGrp="1"/>
          </p:cNvSpPr>
          <p:nvPr>
            <p:ph type="ctrTitle"/>
          </p:nvPr>
        </p:nvSpPr>
        <p:spPr>
          <a:xfrm>
            <a:off x="1036637" y="2445200"/>
            <a:ext cx="6950076" cy="517065"/>
          </a:xfrm>
        </p:spPr>
        <p:txBody>
          <a:bodyPr/>
          <a:lstStyle>
            <a:lvl1pPr algn="l">
              <a:defRPr sz="3600">
                <a:solidFill>
                  <a:srgbClr val="005094"/>
                </a:solidFill>
              </a:defRPr>
            </a:lvl1pPr>
          </a:lstStyle>
          <a:p>
            <a:r>
              <a:rPr lang="en-US" dirty="0"/>
              <a:t>Click to edit Master title style</a:t>
            </a:r>
            <a:endParaRPr lang="en-GB" dirty="0"/>
          </a:p>
        </p:txBody>
      </p:sp>
      <p:pic>
        <p:nvPicPr>
          <p:cNvPr id="2" name="Picture 1" descr="A black and white sign with white text&#10;&#10;Description automatically generated"/>
          <p:cNvPicPr>
            <a:picLocks noChangeAspect="1"/>
          </p:cNvPicPr>
          <p:nvPr userDrawn="1"/>
        </p:nvPicPr>
        <p:blipFill>
          <a:blip r:embed="rId2"/>
          <a:stretch>
            <a:fillRect/>
          </a:stretch>
        </p:blipFill>
        <p:spPr>
          <a:xfrm>
            <a:off x="1036637" y="552043"/>
            <a:ext cx="3535363" cy="814976"/>
          </a:xfrm>
          <a:prstGeom prst="rect">
            <a:avLst/>
          </a:prstGeom>
        </p:spPr>
      </p:pic>
      <p:sp>
        <p:nvSpPr>
          <p:cNvPr id="3" name="Rectangle 2"/>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ln>
        </p:spPr>
        <p:txBody>
          <a:bodyPr wrap="none" rtlCol="0" anchor="ctr"/>
          <a:lstStyle/>
          <a:p>
            <a:pPr algn="l">
              <a:lnSpc>
                <a:spcPct val="90000"/>
              </a:lnSpc>
            </a:pPr>
            <a:endParaRPr lang="en-US" sz="1200" b="0" dirty="0">
              <a:solidFill>
                <a:schemeClr val="bg1"/>
              </a:solidFill>
              <a:latin typeface="+mj-lt"/>
            </a:endParaRPr>
          </a:p>
        </p:txBody>
      </p:sp>
      <p:sp>
        <p:nvSpPr>
          <p:cNvPr id="4" name="Slide Number Placeholder 3"/>
          <p:cNvSpPr>
            <a:spLocks noGrp="1"/>
          </p:cNvSpPr>
          <p:nvPr>
            <p:ph type="sldNum" sz="quarter" idx="10"/>
          </p:nvPr>
        </p:nvSpPr>
        <p:spPr/>
        <p:txBody>
          <a:bodyPr/>
          <a:lstStyle/>
          <a:p>
            <a:fld id="{4B327F5A-7D8F-4012-9A1A-2197D74A174F}" type="slidenum">
              <a:rPr lang="en-IN" smtClean="0"/>
            </a:fld>
            <a:endParaRPr lang="en-IN" dirty="0"/>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1F2F2"/>
            </a:gs>
            <a:gs pos="100000">
              <a:srgbClr val="EBEBEC"/>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6" name="Rectangle 5"/>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ln>
        </p:spPr>
        <p:txBody>
          <a:bodyPr wrap="none" rtlCol="0" anchor="ctr"/>
          <a:lstStyle/>
          <a:p>
            <a:pPr algn="l">
              <a:lnSpc>
                <a:spcPct val="90000"/>
              </a:lnSpc>
            </a:pPr>
            <a:endParaRPr lang="en-US" sz="1200" b="0" dirty="0">
              <a:solidFill>
                <a:schemeClr val="bg1"/>
              </a:solidFill>
              <a:latin typeface="+mj-lt"/>
            </a:endParaRPr>
          </a:p>
        </p:txBody>
      </p:sp>
      <p:sp>
        <p:nvSpPr>
          <p:cNvPr id="2" name="Title Placeholder 1"/>
          <p:cNvSpPr>
            <a:spLocks noGrp="1"/>
          </p:cNvSpPr>
          <p:nvPr>
            <p:ph type="title"/>
          </p:nvPr>
        </p:nvSpPr>
        <p:spPr>
          <a:xfrm>
            <a:off x="1036638" y="633475"/>
            <a:ext cx="7072312" cy="438582"/>
          </a:xfrm>
          <a:prstGeom prst="rect">
            <a:avLst/>
          </a:prstGeom>
        </p:spPr>
        <p:txBody>
          <a:bodyPr vert="horz" wrap="square" lIns="0" tIns="0" rIns="0" bIns="45720" rtlCol="0" anchor="t" anchorCtr="0">
            <a:spAutoFit/>
          </a:bodyPr>
          <a:lstStyle/>
          <a:p>
            <a:r>
              <a:rPr lang="en-US" dirty="0"/>
              <a:t>Slide Title Here</a:t>
            </a:r>
            <a:endParaRPr lang="en-US" dirty="0"/>
          </a:p>
        </p:txBody>
      </p:sp>
      <p:sp>
        <p:nvSpPr>
          <p:cNvPr id="3" name="Text Placeholder 2"/>
          <p:cNvSpPr>
            <a:spLocks noGrp="1"/>
          </p:cNvSpPr>
          <p:nvPr>
            <p:ph type="body" idx="1"/>
          </p:nvPr>
        </p:nvSpPr>
        <p:spPr>
          <a:xfrm>
            <a:off x="1036638" y="1108347"/>
            <a:ext cx="7072312" cy="3171045"/>
          </a:xfrm>
          <a:prstGeom prst="rect">
            <a:avLst/>
          </a:prstGeom>
        </p:spPr>
        <p:txBody>
          <a:bodyPr vert="horz" wrap="square" lIns="0" tIns="0" rIns="0" bIns="45720" rtlCol="0">
            <a:noAutofit/>
          </a:bodyPr>
          <a:lstStyle/>
          <a:p>
            <a:pPr lvl="0"/>
            <a:r>
              <a:rPr lang="en-US" dirty="0"/>
              <a:t>Click to edit bullet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9" name="Picture 8" descr="A blue and black logo&#10;&#10;Description automatically generated"/>
          <p:cNvPicPr>
            <a:picLocks noChangeAspect="1"/>
          </p:cNvPicPr>
          <p:nvPr userDrawn="1"/>
        </p:nvPicPr>
        <p:blipFill rotWithShape="1">
          <a:blip r:embed="rId12"/>
          <a:srcRect r="74035"/>
          <a:stretch>
            <a:fillRect/>
          </a:stretch>
        </p:blipFill>
        <p:spPr>
          <a:xfrm>
            <a:off x="8366780" y="118792"/>
            <a:ext cx="712936" cy="720000"/>
          </a:xfrm>
          <a:prstGeom prst="rect">
            <a:avLst/>
          </a:prstGeom>
        </p:spPr>
      </p:pic>
      <p:sp>
        <p:nvSpPr>
          <p:cNvPr id="11"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ftr="0" dt="0"/>
  <p:txStyles>
    <p:title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p:titleStyle>
    <p:bodyStyle>
      <a:lvl1pPr marL="168275" indent="-168275" algn="l" defTabSz="914400" rtl="0" eaLnBrk="1" latinLnBrk="0" hangingPunct="1">
        <a:lnSpc>
          <a:spcPct val="100000"/>
        </a:lnSpc>
        <a:spcBef>
          <a:spcPts val="1000"/>
        </a:spcBef>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945" y="1763805"/>
            <a:ext cx="9214945" cy="821763"/>
          </a:xfrm>
        </p:spPr>
        <p:txBody>
          <a:bodyPr wrap="square"/>
          <a:lstStyle/>
          <a:p>
            <a:pPr algn="ctr"/>
            <a:r>
              <a:rPr lang="en-US" sz="2800" b="1" dirty="0"/>
              <a:t>STUDENT LEARNING MODELS </a:t>
            </a:r>
            <a:br>
              <a:rPr lang="en-US" sz="2800" b="1" dirty="0"/>
            </a:br>
            <a:r>
              <a:rPr lang="en-US" sz="2800" b="1" dirty="0"/>
              <a:t> Review-1</a:t>
            </a:r>
            <a:endParaRPr lang="en-US" sz="2800" b="1" dirty="0">
              <a:solidFill>
                <a:srgbClr val="0070C0"/>
              </a:solidFill>
            </a:endParaRPr>
          </a:p>
        </p:txBody>
      </p:sp>
      <p:sp>
        <p:nvSpPr>
          <p:cNvPr id="6" name="Text Placeholder 5"/>
          <p:cNvSpPr>
            <a:spLocks noGrp="1"/>
          </p:cNvSpPr>
          <p:nvPr>
            <p:ph type="body" sz="quarter" idx="10"/>
          </p:nvPr>
        </p:nvSpPr>
        <p:spPr>
          <a:xfrm>
            <a:off x="1196113" y="2571750"/>
            <a:ext cx="7069512" cy="432343"/>
          </a:xfrm>
        </p:spPr>
        <p:txBody>
          <a:bodyPr/>
          <a:lstStyle/>
          <a:p>
            <a:pPr algn="ctr"/>
            <a:r>
              <a:rPr lang="en-US" sz="2500" b="1" dirty="0"/>
              <a:t>Deep Learning </a:t>
            </a:r>
            <a:r>
              <a:rPr lang="en-IN" altLang="en-US" sz="2500" b="1" dirty="0"/>
              <a:t>Framework for Speech to Text Conversion in Dysarthric patients</a:t>
            </a:r>
            <a:endParaRPr lang="en-IN" altLang="en-US" sz="2500" b="1" dirty="0">
              <a:solidFill>
                <a:srgbClr val="0070C0"/>
              </a:solidFill>
              <a:latin typeface="+mj-lt"/>
            </a:endParaRPr>
          </a:p>
        </p:txBody>
      </p:sp>
      <p:sp>
        <p:nvSpPr>
          <p:cNvPr id="7" name="Slide Number Placeholder 6"/>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2" name="Text Placeholder 5"/>
          <p:cNvSpPr txBox="1"/>
          <p:nvPr/>
        </p:nvSpPr>
        <p:spPr>
          <a:xfrm>
            <a:off x="299544" y="4173817"/>
            <a:ext cx="3302876" cy="432343"/>
          </a:xfrm>
          <a:prstGeom prst="rect">
            <a:avLst/>
          </a:prstGeom>
        </p:spPr>
        <p:txBody>
          <a:bodyPr vert="horz" wrap="square" lIns="0" tIns="0" rIns="0" bIns="45720" rtlCol="0" anchor="t" anchorCtr="0">
            <a:noAutofit/>
          </a:bodyPr>
          <a:lstStyle>
            <a:lvl1pPr marL="0" indent="0" algn="l" defTabSz="914400" rtl="0" eaLnBrk="1" latinLnBrk="0" hangingPunct="1">
              <a:lnSpc>
                <a:spcPct val="100000"/>
              </a:lnSpc>
              <a:spcBef>
                <a:spcPts val="0"/>
              </a:spcBef>
              <a:buClr>
                <a:srgbClr val="005094"/>
              </a:buClr>
              <a:buFontTx/>
              <a:buNone/>
              <a:defRPr lang="en-US" sz="1800" b="0" i="0" kern="1200" baseline="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b="1" dirty="0">
                <a:solidFill>
                  <a:srgbClr val="7030A0"/>
                </a:solidFill>
                <a:latin typeface="+mj-lt"/>
              </a:rPr>
              <a:t>Batch Number:</a:t>
            </a:r>
            <a:r>
              <a:rPr lang="en-IN" altLang="en-US" sz="1400" b="1" dirty="0">
                <a:solidFill>
                  <a:srgbClr val="7030A0"/>
                </a:solidFill>
                <a:latin typeface="+mj-lt"/>
              </a:rPr>
              <a:t> 08</a:t>
            </a:r>
            <a:endParaRPr lang="en-US" sz="1400" b="1" dirty="0">
              <a:solidFill>
                <a:srgbClr val="7030A0"/>
              </a:solidFill>
              <a:latin typeface="+mj-lt"/>
            </a:endParaRPr>
          </a:p>
          <a:p>
            <a:r>
              <a:rPr lang="en-IN" altLang="en-US" sz="1400" b="1" dirty="0">
                <a:solidFill>
                  <a:srgbClr val="0070C0"/>
                </a:solidFill>
                <a:latin typeface="+mj-lt"/>
              </a:rPr>
              <a:t>24951A1256 </a:t>
            </a:r>
            <a:r>
              <a:rPr lang="en-US" sz="1400" b="1" dirty="0">
                <a:solidFill>
                  <a:srgbClr val="0070C0"/>
                </a:solidFill>
                <a:latin typeface="+mj-lt"/>
              </a:rPr>
              <a:t>-</a:t>
            </a:r>
            <a:r>
              <a:rPr lang="en-IN" altLang="en-US" sz="1400" b="1" dirty="0">
                <a:solidFill>
                  <a:srgbClr val="0070C0"/>
                </a:solidFill>
                <a:latin typeface="+mj-lt"/>
              </a:rPr>
              <a:t> T. NAVANEETH REDDY</a:t>
            </a:r>
            <a:endParaRPr lang="en-US" sz="1400" b="1" dirty="0">
              <a:solidFill>
                <a:srgbClr val="0070C0"/>
              </a:solidFill>
              <a:latin typeface="+mj-lt"/>
            </a:endParaRPr>
          </a:p>
          <a:p>
            <a:r>
              <a:rPr lang="en-IN" altLang="en-US" sz="1400" b="1" dirty="0">
                <a:solidFill>
                  <a:srgbClr val="0070C0"/>
                </a:solidFill>
              </a:rPr>
              <a:t>25955A1203 </a:t>
            </a:r>
            <a:r>
              <a:rPr lang="en-US" sz="1400" b="1" dirty="0">
                <a:solidFill>
                  <a:srgbClr val="0070C0"/>
                </a:solidFill>
              </a:rPr>
              <a:t>- </a:t>
            </a:r>
            <a:r>
              <a:rPr lang="en-IN" altLang="en-US" sz="1400" b="1" dirty="0">
                <a:solidFill>
                  <a:srgbClr val="0070C0"/>
                </a:solidFill>
              </a:rPr>
              <a:t>D. MADHU</a:t>
            </a:r>
            <a:endParaRPr lang="en-IN" altLang="en-US" sz="1400" b="1" dirty="0">
              <a:solidFill>
                <a:srgbClr val="0070C0"/>
              </a:solidFill>
              <a:latin typeface="+mj-lt"/>
            </a:endParaRPr>
          </a:p>
        </p:txBody>
      </p:sp>
      <p:sp>
        <p:nvSpPr>
          <p:cNvPr id="3" name="Text Placeholder 5"/>
          <p:cNvSpPr txBox="1"/>
          <p:nvPr/>
        </p:nvSpPr>
        <p:spPr>
          <a:xfrm>
            <a:off x="2920562" y="3485334"/>
            <a:ext cx="3302876" cy="432343"/>
          </a:xfrm>
          <a:prstGeom prst="rect">
            <a:avLst/>
          </a:prstGeom>
        </p:spPr>
        <p:txBody>
          <a:bodyPr vert="horz" wrap="square" lIns="0" tIns="0" rIns="0" bIns="45720" rtlCol="0" anchor="t" anchorCtr="0">
            <a:noAutofit/>
          </a:bodyPr>
          <a:lstStyle>
            <a:lvl1pPr marL="0" indent="0" algn="l" defTabSz="914400" rtl="0" eaLnBrk="1" latinLnBrk="0" hangingPunct="1">
              <a:lnSpc>
                <a:spcPct val="100000"/>
              </a:lnSpc>
              <a:spcBef>
                <a:spcPts val="0"/>
              </a:spcBef>
              <a:buClr>
                <a:srgbClr val="005094"/>
              </a:buClr>
              <a:buFontTx/>
              <a:buNone/>
              <a:defRPr lang="en-US" sz="1800" b="0" i="0" kern="1200" baseline="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en-US" sz="1400" b="1" dirty="0">
                <a:solidFill>
                  <a:srgbClr val="0070C0"/>
                </a:solidFill>
                <a:latin typeface="+mj-lt"/>
              </a:rPr>
              <a:t>Under the Guidance </a:t>
            </a:r>
            <a:endParaRPr lang="en-US" sz="1400" b="1" dirty="0">
              <a:solidFill>
                <a:srgbClr val="0070C0"/>
              </a:solidFill>
              <a:latin typeface="+mj-lt"/>
            </a:endParaRPr>
          </a:p>
          <a:p>
            <a:pPr algn="ctr"/>
            <a:r>
              <a:rPr lang="en-US" sz="1400" b="1" dirty="0">
                <a:solidFill>
                  <a:srgbClr val="0070C0"/>
                </a:solidFill>
                <a:latin typeface="+mj-lt"/>
              </a:rPr>
              <a:t>of </a:t>
            </a:r>
            <a:endParaRPr lang="en-US" sz="1400" b="1" dirty="0">
              <a:solidFill>
                <a:srgbClr val="0070C0"/>
              </a:solidFill>
              <a:latin typeface="+mj-lt"/>
            </a:endParaRPr>
          </a:p>
          <a:p>
            <a:pPr algn="ctr"/>
            <a:r>
              <a:rPr lang="en-US" altLang="en-US" sz="1400" b="1" dirty="0">
                <a:solidFill>
                  <a:srgbClr val="0070C0"/>
                </a:solidFill>
              </a:rPr>
              <a:t>Mrs. </a:t>
            </a:r>
            <a:r>
              <a:rPr lang="en-IN" altLang="en-US" sz="1400" b="1" dirty="0">
                <a:solidFill>
                  <a:srgbClr val="0070C0"/>
                </a:solidFill>
              </a:rPr>
              <a:t>C. S. L. Vijaya Durga</a:t>
            </a:r>
            <a:endParaRPr lang="en-US" altLang="en-US" sz="1400" b="1" dirty="0">
              <a:solidFill>
                <a:srgbClr val="0070C0"/>
              </a:solidFill>
            </a:endParaRPr>
          </a:p>
          <a:p>
            <a:pPr algn="ctr"/>
            <a:endParaRPr lang="en-US" altLang="en-US" sz="1400" b="1" dirty="0">
              <a:solidFill>
                <a:srgbClr val="0070C0"/>
              </a:solidFill>
              <a:latin typeface="+mj-lt"/>
            </a:endParaRPr>
          </a:p>
        </p:txBody>
      </p:sp>
      <p:sp>
        <p:nvSpPr>
          <p:cNvPr id="5" name="Text Placeholder 5"/>
          <p:cNvSpPr txBox="1"/>
          <p:nvPr/>
        </p:nvSpPr>
        <p:spPr>
          <a:xfrm>
            <a:off x="208893" y="1410497"/>
            <a:ext cx="7464972" cy="432343"/>
          </a:xfrm>
          <a:prstGeom prst="rect">
            <a:avLst/>
          </a:prstGeom>
        </p:spPr>
        <p:txBody>
          <a:bodyPr vert="horz" wrap="square" lIns="0" tIns="0" rIns="0" bIns="45720" rtlCol="0" anchor="t" anchorCtr="0">
            <a:noAutofit/>
          </a:bodyPr>
          <a:lstStyle>
            <a:lvl1pPr marL="0" indent="0" algn="l" defTabSz="914400" rtl="0" eaLnBrk="1" latinLnBrk="0" hangingPunct="1">
              <a:lnSpc>
                <a:spcPct val="100000"/>
              </a:lnSpc>
              <a:spcBef>
                <a:spcPts val="0"/>
              </a:spcBef>
              <a:buClr>
                <a:srgbClr val="005094"/>
              </a:buClr>
              <a:buFontTx/>
              <a:buNone/>
              <a:defRPr lang="en-US" sz="1800" b="0" i="0" kern="1200" baseline="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en-US" b="1" dirty="0">
                <a:solidFill>
                  <a:srgbClr val="D7B46E"/>
                </a:solidFill>
                <a:latin typeface="+mj-lt"/>
              </a:rPr>
              <a:t>Department of Information Technology</a:t>
            </a:r>
            <a:endParaRPr lang="en-US" altLang="en-US" b="1" dirty="0">
              <a:solidFill>
                <a:srgbClr val="D7B46E"/>
              </a:solidFill>
              <a:latin typeface="+mj-lt"/>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a:sym typeface="+mn-ea"/>
              </a:rPr>
              <a:t>Abstract</a:t>
            </a:r>
            <a:endParaRPr lang="en-GB" altLang="en-US"/>
          </a:p>
        </p:txBody>
      </p:sp>
      <p:sp>
        <p:nvSpPr>
          <p:cNvPr id="3" name="Content Placeholder 2"/>
          <p:cNvSpPr>
            <a:spLocks noGrp="1"/>
          </p:cNvSpPr>
          <p:nvPr>
            <p:ph idx="1"/>
          </p:nvPr>
        </p:nvSpPr>
        <p:spPr/>
        <p:txBody>
          <a:bodyPr/>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altLang="en-GB">
                <a:ln>
                  <a:noFill/>
                </a:ln>
                <a:solidFill>
                  <a:schemeClr val="accent3">
                    <a:lumMod val="50000"/>
                  </a:schemeClr>
                </a:solidFill>
                <a:effectLst/>
                <a:latin typeface="Arial" panose="020B0604020202020204" pitchFamily="34" charset="0"/>
                <a:sym typeface="+mn-ea"/>
              </a:rPr>
              <a:t>Dysarthria is a motor speech disorder that affects a person’s ability to articulate speech clearly, making conventional speech-to-text systems ineffective.</a:t>
            </a:r>
            <a:endParaRPr altLang="en-GB">
              <a:ln>
                <a:noFill/>
              </a:ln>
              <a:solidFill>
                <a:schemeClr val="accent3">
                  <a:lumMod val="50000"/>
                </a:schemeClr>
              </a:solidFill>
              <a:effectLst/>
              <a:latin typeface="Arial" panose="020B0604020202020204" pitchFamily="34" charset="0"/>
              <a:sym typeface="+mn-ea"/>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charset="0"/>
              <a:buNone/>
            </a:pPr>
            <a:endParaRPr kumimoji="0" lang="en-US" altLang="en-GB"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altLang="en-GB">
                <a:ln>
                  <a:noFill/>
                </a:ln>
                <a:solidFill>
                  <a:schemeClr val="accent3">
                    <a:lumMod val="50000"/>
                  </a:schemeClr>
                </a:solidFill>
                <a:effectLst/>
                <a:latin typeface="Arial" panose="020B0604020202020204" pitchFamily="34" charset="0"/>
                <a:sym typeface="+mn-ea"/>
              </a:rPr>
              <a:t>This project proposes a deep learning–based speech-to-text framework designed specifically for dysarthric speech.</a:t>
            </a:r>
            <a:endParaRPr altLang="en-GB">
              <a:ln>
                <a:noFill/>
              </a:ln>
              <a:solidFill>
                <a:schemeClr val="accent3">
                  <a:lumMod val="50000"/>
                </a:schemeClr>
              </a:solidFill>
              <a:effectLst/>
              <a:latin typeface="Arial" panose="020B0604020202020204" pitchFamily="34" charset="0"/>
              <a:sym typeface="+mn-ea"/>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charset="0"/>
              <a:buNone/>
            </a:pPr>
            <a:endParaRPr kumimoji="0" lang="en-US" altLang="en-GB"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altLang="en-GB">
                <a:ln>
                  <a:noFill/>
                </a:ln>
                <a:solidFill>
                  <a:schemeClr val="accent3">
                    <a:lumMod val="50000"/>
                  </a:schemeClr>
                </a:solidFill>
                <a:effectLst/>
                <a:latin typeface="Arial" panose="020B0604020202020204" pitchFamily="34" charset="0"/>
                <a:sym typeface="+mn-ea"/>
              </a:rPr>
              <a:t>By leveraging advanced neural network architectures and tailored preprocessing techniques, the system aims to improve transcription accuracy and enhance communication accessibility for dysarthric patients.</a:t>
            </a:r>
            <a:endParaRPr kumimoji="0" lang="en-US" altLang="en-GB" b="0" i="0" u="none" strike="noStrike" cap="none" normalizeH="0" baseline="0" dirty="0">
              <a:ln>
                <a:noFill/>
              </a:ln>
              <a:solidFill>
                <a:schemeClr val="accent3">
                  <a:lumMod val="50000"/>
                </a:schemeClr>
              </a:solidFill>
              <a:effectLst/>
              <a:latin typeface="Arial" panose="020B0604020202020204" pitchFamily="34" charset="0"/>
            </a:endParaRPr>
          </a:p>
          <a:p>
            <a:pPr marL="0" indent="0">
              <a:lnSpc>
                <a:spcPct val="100000"/>
              </a:lnSpc>
              <a:buNone/>
            </a:pPr>
            <a:endParaRPr lang="en-GB" altLang="en-US"/>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a:sym typeface="+mn-ea"/>
              </a:rPr>
              <a:t>Introduction</a:t>
            </a:r>
            <a:endParaRPr lang="en-GB" altLang="en-US"/>
          </a:p>
        </p:txBody>
      </p:sp>
      <p:sp>
        <p:nvSpPr>
          <p:cNvPr id="3" name="Content Placeholder 2"/>
          <p:cNvSpPr>
            <a:spLocks noGrp="1"/>
          </p:cNvSpPr>
          <p:nvPr>
            <p:ph idx="1"/>
          </p:nvPr>
        </p:nvSpPr>
        <p:spPr/>
        <p:txBody>
          <a:bodyPr/>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lang="en-IN" altLang="en-US">
                <a:ln>
                  <a:noFill/>
                </a:ln>
                <a:solidFill>
                  <a:schemeClr val="accent2">
                    <a:lumMod val="50000"/>
                  </a:schemeClr>
                </a:solidFill>
                <a:effectLst/>
                <a:latin typeface="Arial" panose="020B0604020202020204" pitchFamily="34" charset="0"/>
                <a:sym typeface="+mn-ea"/>
              </a:rPr>
              <a:t>S</a:t>
            </a:r>
            <a:r>
              <a:rPr altLang="en-GB">
                <a:ln>
                  <a:noFill/>
                </a:ln>
                <a:solidFill>
                  <a:schemeClr val="accent2">
                    <a:lumMod val="50000"/>
                  </a:schemeClr>
                </a:solidFill>
                <a:effectLst/>
                <a:latin typeface="Arial" panose="020B0604020202020204" pitchFamily="34" charset="0"/>
                <a:sym typeface="+mn-ea"/>
              </a:rPr>
              <a:t>peech-to-text technology has become an essential component of modern human–computer interaction, enabling voice-based communication in applications such as virtual assistants, accessibility tools, and healthcare systems. However, most existing automatic speech recognition (ASR) systems are designed and trained using speech data from healthy speakers. As a result, they perform poorly when applied to individuals with speech disorders. Dysarthria is a motor speech disorder caused by neurological damage that affects muscle control required for speech production</a:t>
            </a:r>
            <a:r>
              <a:rPr lang="en-IN" altLang="en-US">
                <a:ln>
                  <a:noFill/>
                </a:ln>
                <a:solidFill>
                  <a:schemeClr val="accent2">
                    <a:lumMod val="50000"/>
                  </a:schemeClr>
                </a:solidFill>
                <a:effectLst/>
                <a:latin typeface="Arial" panose="020B0604020202020204" pitchFamily="34" charset="0"/>
                <a:sym typeface="+mn-ea"/>
              </a:rPr>
              <a:t>.</a:t>
            </a:r>
            <a:r>
              <a:rPr altLang="en-GB">
                <a:ln>
                  <a:noFill/>
                </a:ln>
                <a:solidFill>
                  <a:schemeClr val="accent2">
                    <a:lumMod val="50000"/>
                  </a:schemeClr>
                </a:solidFill>
                <a:effectLst/>
                <a:latin typeface="Arial" panose="020B0604020202020204" pitchFamily="34" charset="0"/>
                <a:sym typeface="+mn-ea"/>
              </a:rPr>
              <a:t> These characteristics significantly degrade the performance of conventional ASR systems, making them unreliable for dysarthric patients.</a:t>
            </a:r>
            <a:endParaRPr lang="en-US" altLang="en-GB">
              <a:ln>
                <a:noFill/>
              </a:ln>
              <a:solidFill>
                <a:schemeClr val="accent2">
                  <a:lumMod val="50000"/>
                </a:schemeClr>
              </a:solidFill>
              <a:effectLst/>
              <a:latin typeface="Arial" panose="020B0604020202020204" pitchFamily="34" charset="0"/>
              <a:sym typeface="+mn-ea"/>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a:sym typeface="+mn-ea"/>
              </a:rPr>
              <a:t>Introduction</a:t>
            </a:r>
            <a:endParaRPr lang="en-GB" altLang="en-US"/>
          </a:p>
        </p:txBody>
      </p:sp>
      <p:sp>
        <p:nvSpPr>
          <p:cNvPr id="3" name="Content Placeholder 2"/>
          <p:cNvSpPr>
            <a:spLocks noGrp="1"/>
          </p:cNvSpPr>
          <p:nvPr>
            <p:ph idx="1"/>
          </p:nvPr>
        </p:nvSpPr>
        <p:spPr/>
        <p:txBody>
          <a:bodyPr/>
          <a:p>
            <a:pPr>
              <a:buFont typeface="Wingdings" panose="05000000000000000000" charset="0"/>
              <a:buChar char="Ø"/>
            </a:pPr>
            <a:r>
              <a:rPr lang="en-US" altLang="en-GB">
                <a:solidFill>
                  <a:schemeClr val="accent2">
                    <a:lumMod val="50000"/>
                  </a:schemeClr>
                </a:solidFill>
              </a:rPr>
              <a:t>The inability of standard speech-to-text systems to accurately recognize dysarthric speech creates a major communication barrier for affected individuals, limiting their independence and access to digital technologies. Recent advances in deep learning have shown strong potential in modeling complex, non-linear patterns in speech signals, particularly in handling variability and temporal dependencies. This project focuses on developing a deep learning framework specifically designed for speech-to-text conversion in dysarthric patients, with the goal of improving transcription accuracy and enhancing assistive communication support.</a:t>
            </a:r>
            <a:endParaRPr lang="en-US" altLang="en-GB">
              <a:solidFill>
                <a:schemeClr val="accent2">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049" y="78760"/>
            <a:ext cx="8349916" cy="507831"/>
          </a:xfrm>
        </p:spPr>
        <p:txBody>
          <a:bodyPr/>
          <a:lstStyle/>
          <a:p>
            <a:r>
              <a:rPr lang="en-US" dirty="0"/>
              <a:t>Problem Identification</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Grp="1" noChangeArrowheads="1"/>
          </p:cNvSpPr>
          <p:nvPr>
            <p:ph idx="1"/>
          </p:nvPr>
        </p:nvSpPr>
        <p:spPr bwMode="auto">
          <a:xfrm>
            <a:off x="132407" y="1141095"/>
            <a:ext cx="8731813"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Dysarthric patients face difficulty using standard voice-based systems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High word error rates in conventional ASR models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Limited datasets and poor model generalization</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Lack of personalized and adaptive speech recognition systems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1" i="0" u="none" strike="noStrike" cap="none" normalizeH="0" baseline="0" dirty="0">
                <a:ln>
                  <a:noFill/>
                </a:ln>
                <a:solidFill>
                  <a:schemeClr val="accent3">
                    <a:lumMod val="50000"/>
                  </a:schemeClr>
                </a:solidFill>
                <a:effectLst/>
                <a:latin typeface="Arial" panose="020B0604020202020204" pitchFamily="34" charset="0"/>
              </a:rPr>
              <a:t>Problem Statement</a:t>
            </a:r>
            <a:r>
              <a:rPr kumimoji="0" lang="en-IN" altLang="en-US" sz="1800" b="1"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1" i="0" u="none" strike="noStrike" cap="none" normalizeH="0" baseline="0" dirty="0">
                <a:ln>
                  <a:noFill/>
                </a:ln>
                <a:solidFill>
                  <a:schemeClr val="accent3">
                    <a:lumMod val="50000"/>
                  </a:schemeClr>
                </a:solidFill>
                <a:effectLst/>
                <a:latin typeface="Arial" panose="020B0604020202020204" pitchFamily="34" charset="0"/>
              </a:rPr>
              <a: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To develop an accurate and reliable speech-to-text system tailored for dysarthric speech.</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170" y="74403"/>
            <a:ext cx="8349916" cy="507831"/>
          </a:xfrm>
        </p:spPr>
        <p:txBody>
          <a:bodyPr/>
          <a:lstStyle/>
          <a:p>
            <a:r>
              <a:rPr lang="en-US" dirty="0"/>
              <a:t>Objectives</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Grp="1" noChangeArrowheads="1"/>
          </p:cNvSpPr>
          <p:nvPr>
            <p:ph idx="1"/>
          </p:nvPr>
        </p:nvSpPr>
        <p:spPr bwMode="auto">
          <a:xfrm>
            <a:off x="132408" y="1002665"/>
            <a:ext cx="8373678" cy="3138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2">
                    <a:lumMod val="50000"/>
                  </a:schemeClr>
                </a:solidFill>
                <a:effectLst/>
                <a:latin typeface="Arial" panose="020B0604020202020204" pitchFamily="34" charset="0"/>
              </a:rPr>
              <a:t>Design a deep learning framework for dysarthric speech recognition</a:t>
            </a: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2">
                    <a:lumMod val="50000"/>
                  </a:schemeClr>
                </a:solidFill>
                <a:effectLst/>
                <a:latin typeface="Arial" panose="020B0604020202020204" pitchFamily="34" charset="0"/>
              </a:rPr>
              <a:t>Preprocess and enhance dysarthric speech signals</a:t>
            </a: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2">
                    <a:lumMod val="50000"/>
                  </a:schemeClr>
                </a:solidFill>
                <a:effectLst/>
                <a:latin typeface="Arial" panose="020B0604020202020204" pitchFamily="34" charset="0"/>
              </a:rPr>
              <a:t>Extract robust acoustic features</a:t>
            </a: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2">
                    <a:lumMod val="50000"/>
                  </a:schemeClr>
                </a:solidFill>
                <a:effectLst/>
                <a:latin typeface="Arial" panose="020B0604020202020204" pitchFamily="34" charset="0"/>
              </a:rPr>
              <a:t>Train a neural network model for speech-to-text conversion</a:t>
            </a: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2">
                    <a:lumMod val="50000"/>
                  </a:schemeClr>
                </a:solidFill>
                <a:effectLst/>
                <a:latin typeface="Arial" panose="020B0604020202020204" pitchFamily="34" charset="0"/>
              </a:rPr>
              <a:t>Improve transcription accuracy compared to traditional ASR systems</a:t>
            </a: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2">
                    <a:lumMod val="50000"/>
                  </a:schemeClr>
                </a:solidFill>
                <a:effectLst/>
                <a:latin typeface="Arial" panose="020B0604020202020204" pitchFamily="34" charset="0"/>
              </a:rPr>
              <a:t>Enable assistive communication for dysarthric patients</a:t>
            </a:r>
            <a:endParaRPr kumimoji="0" lang="en-US" altLang="en-GB" sz="1800" b="0" i="0" u="none" strike="noStrike" cap="none" normalizeH="0" baseline="0" dirty="0">
              <a:ln>
                <a:noFill/>
              </a:ln>
              <a:solidFill>
                <a:schemeClr val="accent2">
                  <a:lumMod val="50000"/>
                </a:schemeClr>
              </a:solidFill>
              <a:effectLst/>
              <a:latin typeface="Arial" panose="020B0604020202020204" pitchFamily="34" charset="0"/>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408" y="62296"/>
            <a:ext cx="8349916" cy="507831"/>
          </a:xfrm>
        </p:spPr>
        <p:txBody>
          <a:bodyPr/>
          <a:lstStyle/>
          <a:p>
            <a:r>
              <a:rPr lang="en-US" dirty="0"/>
              <a:t>Literature Review</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p:cNvSpPr>
            <a:spLocks noGrp="1" noChangeArrowheads="1"/>
          </p:cNvSpPr>
          <p:nvPr>
            <p:ph idx="1"/>
          </p:nvPr>
        </p:nvSpPr>
        <p:spPr bwMode="auto">
          <a:xfrm>
            <a:off x="132865" y="654483"/>
            <a:ext cx="8568704"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2024 research shows deep learning models significantly outperform HMM-based ASR for dysarthric speech</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[HMM - Hidden Markov Model]</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Transformer and CNN-RNN hybrid architectures improve robustness to articulation variability</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2025 studies emphasize speaker-adaptive and transfer learning techniques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Recent work highlights the importance of data augmentation for limited dysarthric datasets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1" i="0" u="none" strike="noStrike" cap="none" normalizeH="0" baseline="0" dirty="0">
                <a:ln>
                  <a:noFill/>
                </a:ln>
                <a:solidFill>
                  <a:schemeClr val="accent3">
                    <a:lumMod val="50000"/>
                  </a:schemeClr>
                </a:solidFill>
                <a:effectLst/>
                <a:latin typeface="Arial" panose="020B0604020202020204" pitchFamily="34" charset="0"/>
              </a:rPr>
              <a:t>Identified Gap</a:t>
            </a:r>
            <a:r>
              <a:rPr kumimoji="0" lang="en-IN" altLang="en-US" sz="1800" b="1"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1" i="0" u="none" strike="noStrike" cap="none" normalizeH="0" baseline="0" dirty="0">
                <a:ln>
                  <a:noFill/>
                </a:ln>
                <a:solidFill>
                  <a:schemeClr val="accent3">
                    <a:lumMod val="50000"/>
                  </a:schemeClr>
                </a:solidFill>
                <a:effectLst/>
                <a:latin typeface="Arial" panose="020B0604020202020204" pitchFamily="34" charset="0"/>
              </a:rPr>
              <a: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Most systems lack generalization across severity levels and real-world usability.</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graphicFrame>
        <p:nvGraphicFramePr>
          <p:cNvPr id="5" name="Table 4"/>
          <p:cNvGraphicFramePr>
            <a:graphicFrameLocks noGrp="1"/>
          </p:cNvGraphicFramePr>
          <p:nvPr>
            <p:custDataLst>
              <p:tags r:id="rId1"/>
            </p:custDataLst>
          </p:nvPr>
        </p:nvGraphicFramePr>
        <p:xfrm>
          <a:off x="179070" y="581025"/>
          <a:ext cx="8277225" cy="4815840"/>
        </p:xfrm>
        <a:graphic>
          <a:graphicData uri="http://schemas.openxmlformats.org/drawingml/2006/table">
            <a:tbl>
              <a:tblPr firstRow="1" bandRow="1">
                <a:tableStyleId>{5C22544A-7EE6-4342-B048-85BDC9FD1C3A}</a:tableStyleId>
              </a:tblPr>
              <a:tblGrid>
                <a:gridCol w="1419225"/>
                <a:gridCol w="1155700"/>
                <a:gridCol w="2663825"/>
                <a:gridCol w="3038475"/>
              </a:tblGrid>
              <a:tr h="547370">
                <a:tc>
                  <a:txBody>
                    <a:bodyPr/>
                    <a:lstStyle/>
                    <a:p>
                      <a:r>
                        <a:rPr lang="en-IN" sz="1400" dirty="0"/>
                        <a:t>Authors </a:t>
                      </a:r>
                      <a:endParaRPr lang="en-IN" sz="1400" dirty="0"/>
                    </a:p>
                  </a:txBody>
                  <a:tcPr/>
                </a:tc>
                <a:tc>
                  <a:txBody>
                    <a:bodyPr/>
                    <a:lstStyle/>
                    <a:p>
                      <a:r>
                        <a:rPr lang="en-IN" sz="1400" dirty="0"/>
                        <a:t>Published Year</a:t>
                      </a:r>
                      <a:endParaRPr lang="en-IN" sz="1400" dirty="0"/>
                    </a:p>
                  </a:txBody>
                  <a:tcPr/>
                </a:tc>
                <a:tc>
                  <a:txBody>
                    <a:bodyPr/>
                    <a:lstStyle/>
                    <a:p>
                      <a:r>
                        <a:rPr lang="en-IN" sz="1400" dirty="0"/>
                        <a:t>Paper Title </a:t>
                      </a:r>
                      <a:endParaRPr lang="en-IN" sz="1400" dirty="0"/>
                    </a:p>
                  </a:txBody>
                  <a:tcPr/>
                </a:tc>
                <a:tc>
                  <a:txBody>
                    <a:bodyPr/>
                    <a:lstStyle/>
                    <a:p>
                      <a:r>
                        <a:rPr lang="en-IN" sz="1400" dirty="0"/>
                        <a:t>Key Findings</a:t>
                      </a:r>
                      <a:endParaRPr lang="en-IN" sz="1400" dirty="0"/>
                    </a:p>
                  </a:txBody>
                  <a:tcPr/>
                </a:tc>
              </a:tr>
              <a:tr h="9601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Zhang et al.</a:t>
                      </a:r>
                      <a:endParaRPr lang="en-US" altLang="en-GB" sz="1300" dirty="0">
                        <a:solidFill>
                          <a:schemeClr val="accent2">
                            <a:lumMod val="50000"/>
                          </a:schemeClr>
                        </a:solidFill>
                      </a:endParaRPr>
                    </a:p>
                  </a:txBody>
                  <a:tcPr/>
                </a:tc>
                <a:tc>
                  <a:txBody>
                    <a:bodyPr/>
                    <a:lstStyle/>
                    <a:p>
                      <a:r>
                        <a:rPr lang="en-US" altLang="en-GB" sz="1300" dirty="0">
                          <a:solidFill>
                            <a:schemeClr val="accent2">
                              <a:lumMod val="50000"/>
                            </a:schemeClr>
                          </a:solidFill>
                        </a:rPr>
                        <a:t>2024</a:t>
                      </a:r>
                      <a:endParaRPr lang="en-US" altLang="en-GB" sz="13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Deep Learning Approaches for Dysarthric Speech Recognition</a:t>
                      </a: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IN" altLang="en-US" sz="1000" dirty="0">
                          <a:solidFill>
                            <a:schemeClr val="accent2">
                              <a:lumMod val="50000"/>
                            </a:schemeClr>
                          </a:solidFill>
                        </a:rPr>
                        <a:t>Link - </a:t>
                      </a:r>
                      <a:r>
                        <a:rPr lang="en-US" altLang="en-GB" sz="1000" dirty="0">
                          <a:solidFill>
                            <a:schemeClr val="accent2">
                              <a:lumMod val="50000"/>
                            </a:schemeClr>
                          </a:solidFill>
                        </a:rPr>
                        <a:t>https://arxiv.org/pdf/2501.03536v1</a:t>
                      </a:r>
                      <a:endParaRPr lang="en-US" altLang="en-GB" sz="10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The study demonstrates that deep learning models significantly outperform traditional HMM-based ASR systems for dysarthric speech. CNN and LSTM </a:t>
                      </a:r>
                      <a:r>
                        <a:rPr lang="en-IN" altLang="en-US" sz="1300" dirty="0">
                          <a:solidFill>
                            <a:schemeClr val="accent2">
                              <a:lumMod val="50000"/>
                            </a:schemeClr>
                          </a:solidFill>
                        </a:rPr>
                        <a:t>[Long Short Term Memory] </a:t>
                      </a:r>
                      <a:r>
                        <a:rPr lang="en-US" altLang="en-GB" sz="1300" dirty="0">
                          <a:solidFill>
                            <a:schemeClr val="accent2">
                              <a:lumMod val="50000"/>
                            </a:schemeClr>
                          </a:solidFill>
                        </a:rPr>
                        <a:t>architectures showed improved robustness to articulation variability, resulting in reduced word error rates for disordered speech.</a:t>
                      </a:r>
                      <a:endParaRPr lang="en-US" altLang="en-GB" sz="1300" dirty="0">
                        <a:solidFill>
                          <a:schemeClr val="accent2">
                            <a:lumMod val="50000"/>
                          </a:schemeClr>
                        </a:solidFill>
                      </a:endParaRPr>
                    </a:p>
                  </a:txBody>
                  <a:tcPr/>
                </a:tc>
              </a:tr>
              <a:tr h="9601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Kim and Lee</a:t>
                      </a:r>
                      <a:endParaRPr lang="en-US" altLang="en-GB" sz="1300" dirty="0">
                        <a:solidFill>
                          <a:schemeClr val="accent2">
                            <a:lumMod val="50000"/>
                          </a:schemeClr>
                        </a:solidFill>
                      </a:endParaRPr>
                    </a:p>
                  </a:txBody>
                  <a:tcPr/>
                </a:tc>
                <a:tc>
                  <a:txBody>
                    <a:bodyPr/>
                    <a:lstStyle/>
                    <a:p>
                      <a:r>
                        <a:rPr lang="en-US" altLang="en-GB" sz="1300" dirty="0">
                          <a:solidFill>
                            <a:schemeClr val="accent2">
                              <a:lumMod val="50000"/>
                            </a:schemeClr>
                          </a:solidFill>
                        </a:rPr>
                        <a:t>2024</a:t>
                      </a:r>
                      <a:endParaRPr lang="en-US" altLang="en-GB" sz="13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Transformer-Based ASR for Disordered Speech</a:t>
                      </a: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IN" altLang="en-US" sz="1000" dirty="0">
                          <a:solidFill>
                            <a:schemeClr val="accent2">
                              <a:lumMod val="50000"/>
                            </a:schemeClr>
                          </a:solidFill>
                        </a:rPr>
                        <a:t>Link - </a:t>
                      </a:r>
                      <a:r>
                        <a:rPr lang="en-US" altLang="en-GB" sz="1000" dirty="0">
                          <a:solidFill>
                            <a:schemeClr val="accent2">
                              <a:lumMod val="50000"/>
                            </a:schemeClr>
                          </a:solidFill>
                        </a:rPr>
                        <a:t>https://link.springer.com/article/10.1186/s13636-024-00368-0</a:t>
                      </a:r>
                      <a:endParaRPr lang="en-US" altLang="en-GB" sz="10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This paper highlights the effectiveness of Transformer-based architectures in modeling long-range temporal dependencies in dysarthric speech. The approach achieved higher transcription accuracy compared to RNN-based models, especially for moderate to severe dysarthria.</a:t>
                      </a:r>
                      <a:endParaRPr lang="en-US" altLang="en-GB" sz="1300" dirty="0">
                        <a:solidFill>
                          <a:schemeClr val="accent2">
                            <a:lumMod val="50000"/>
                          </a:schemeClr>
                        </a:solidFill>
                      </a:endParaRPr>
                    </a:p>
                  </a:txBody>
                  <a:tcPr/>
                </a:tc>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graphicFrame>
        <p:nvGraphicFramePr>
          <p:cNvPr id="5" name="Table 4"/>
          <p:cNvGraphicFramePr>
            <a:graphicFrameLocks noGrp="1"/>
          </p:cNvGraphicFramePr>
          <p:nvPr>
            <p:custDataLst>
              <p:tags r:id="rId1"/>
            </p:custDataLst>
          </p:nvPr>
        </p:nvGraphicFramePr>
        <p:xfrm>
          <a:off x="165100" y="695325"/>
          <a:ext cx="8277225" cy="4815840"/>
        </p:xfrm>
        <a:graphic>
          <a:graphicData uri="http://schemas.openxmlformats.org/drawingml/2006/table">
            <a:tbl>
              <a:tblPr firstRow="1" bandRow="1">
                <a:tableStyleId>{5C22544A-7EE6-4342-B048-85BDC9FD1C3A}</a:tableStyleId>
              </a:tblPr>
              <a:tblGrid>
                <a:gridCol w="1419225"/>
                <a:gridCol w="1155700"/>
                <a:gridCol w="2663825"/>
                <a:gridCol w="3038475"/>
              </a:tblGrid>
              <a:tr h="547370">
                <a:tc>
                  <a:txBody>
                    <a:bodyPr/>
                    <a:lstStyle/>
                    <a:p>
                      <a:r>
                        <a:rPr lang="en-IN" sz="1400" dirty="0"/>
                        <a:t>Authors </a:t>
                      </a:r>
                      <a:endParaRPr lang="en-IN" sz="1400" dirty="0"/>
                    </a:p>
                  </a:txBody>
                  <a:tcPr/>
                </a:tc>
                <a:tc>
                  <a:txBody>
                    <a:bodyPr/>
                    <a:lstStyle/>
                    <a:p>
                      <a:r>
                        <a:rPr lang="en-IN" sz="1400" dirty="0"/>
                        <a:t>Published Year</a:t>
                      </a:r>
                      <a:endParaRPr lang="en-IN" sz="1400" dirty="0"/>
                    </a:p>
                  </a:txBody>
                  <a:tcPr/>
                </a:tc>
                <a:tc>
                  <a:txBody>
                    <a:bodyPr/>
                    <a:lstStyle/>
                    <a:p>
                      <a:r>
                        <a:rPr lang="en-IN" sz="1400" dirty="0"/>
                        <a:t>Paper Title </a:t>
                      </a:r>
                      <a:endParaRPr lang="en-IN" sz="1400" dirty="0"/>
                    </a:p>
                  </a:txBody>
                  <a:tcPr/>
                </a:tc>
                <a:tc>
                  <a:txBody>
                    <a:bodyPr/>
                    <a:lstStyle/>
                    <a:p>
                      <a:r>
                        <a:rPr lang="en-IN" sz="1400" dirty="0"/>
                        <a:t>Key Findings</a:t>
                      </a:r>
                      <a:endParaRPr lang="en-IN" sz="1400" dirty="0"/>
                    </a:p>
                  </a:txBody>
                  <a:tcPr/>
                </a:tc>
              </a:tr>
              <a:tr h="9601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Patel et al.</a:t>
                      </a:r>
                      <a:endParaRPr lang="en-US" altLang="en-GB" sz="1300" dirty="0">
                        <a:solidFill>
                          <a:schemeClr val="accent2">
                            <a:lumMod val="50000"/>
                          </a:schemeClr>
                        </a:solidFill>
                      </a:endParaRPr>
                    </a:p>
                  </a:txBody>
                  <a:tcPr/>
                </a:tc>
                <a:tc>
                  <a:txBody>
                    <a:bodyPr/>
                    <a:lstStyle/>
                    <a:p>
                      <a:r>
                        <a:rPr lang="en-US" altLang="en-GB" sz="1300" dirty="0">
                          <a:solidFill>
                            <a:schemeClr val="accent2">
                              <a:lumMod val="50000"/>
                            </a:schemeClr>
                          </a:solidFill>
                        </a:rPr>
                        <a:t>2024</a:t>
                      </a:r>
                      <a:endParaRPr lang="en-US" altLang="en-GB" sz="13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Robust Acoustic Modeling for Pathological Speech Recognition</a:t>
                      </a: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IN" altLang="en-US" sz="1000" dirty="0">
                          <a:solidFill>
                            <a:schemeClr val="accent2">
                              <a:lumMod val="50000"/>
                            </a:schemeClr>
                          </a:solidFill>
                        </a:rPr>
                        <a:t>Link - </a:t>
                      </a:r>
                      <a:r>
                        <a:rPr lang="en-US" altLang="en-GB" sz="1000" dirty="0">
                          <a:solidFill>
                            <a:schemeClr val="accent2">
                              <a:lumMod val="50000"/>
                            </a:schemeClr>
                          </a:solidFill>
                        </a:rPr>
                        <a:t>https://www.sciencedirect.com/science/article/pii/S0885230825000646</a:t>
                      </a:r>
                      <a:endParaRPr lang="en-US" altLang="en-GB" sz="10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This research focuses on robust acoustic feature modeling techniques for pathological speech. The findings show that features combined with deep neural networks improve recognition performance under high speech variability and limited training data conditions.</a:t>
                      </a:r>
                      <a:endParaRPr lang="en-US" altLang="en-GB" sz="1300" dirty="0">
                        <a:solidFill>
                          <a:schemeClr val="accent2">
                            <a:lumMod val="50000"/>
                          </a:schemeClr>
                        </a:solidFill>
                      </a:endParaRPr>
                    </a:p>
                  </a:txBody>
                  <a:tcPr/>
                </a:tc>
              </a:tr>
              <a:tr h="9601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Hernandez et al.</a:t>
                      </a:r>
                      <a:endParaRPr lang="en-US" altLang="en-GB" sz="1300" dirty="0">
                        <a:solidFill>
                          <a:schemeClr val="accent2">
                            <a:lumMod val="50000"/>
                          </a:schemeClr>
                        </a:solidFill>
                      </a:endParaRPr>
                    </a:p>
                  </a:txBody>
                  <a:tcPr/>
                </a:tc>
                <a:tc>
                  <a:txBody>
                    <a:bodyPr/>
                    <a:lstStyle/>
                    <a:p>
                      <a:r>
                        <a:rPr lang="en-US" altLang="en-GB" sz="1300" dirty="0">
                          <a:solidFill>
                            <a:schemeClr val="accent2">
                              <a:lumMod val="50000"/>
                            </a:schemeClr>
                          </a:solidFill>
                        </a:rPr>
                        <a:t>202</a:t>
                      </a:r>
                      <a:r>
                        <a:rPr lang="en-IN" altLang="en-US" sz="1300" dirty="0">
                          <a:solidFill>
                            <a:schemeClr val="accent2">
                              <a:lumMod val="50000"/>
                            </a:schemeClr>
                          </a:solidFill>
                        </a:rPr>
                        <a:t>5</a:t>
                      </a:r>
                      <a:endParaRPr lang="en-IN" altLang="en-US" sz="13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Advances in Assistive Speech Technologies for Dysarthria</a:t>
                      </a: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en-GB" sz="1300" dirty="0">
                        <a:solidFill>
                          <a:schemeClr val="accent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IN" altLang="en-US" sz="1000" dirty="0">
                          <a:solidFill>
                            <a:schemeClr val="accent2">
                              <a:lumMod val="50000"/>
                            </a:schemeClr>
                          </a:solidFill>
                        </a:rPr>
                        <a:t>Link - </a:t>
                      </a:r>
                      <a:r>
                        <a:rPr lang="en-US" altLang="en-GB" sz="1000" dirty="0">
                          <a:solidFill>
                            <a:schemeClr val="accent2">
                              <a:lumMod val="50000"/>
                            </a:schemeClr>
                          </a:solidFill>
                        </a:rPr>
                        <a:t>https://ceur-ws.org/Vol-3910/aics2024_p63.pdf?utm</a:t>
                      </a:r>
                      <a:endParaRPr lang="en-US" altLang="en-GB" sz="1000" dirty="0">
                        <a:solidFill>
                          <a:schemeClr val="accent2">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300" dirty="0">
                          <a:solidFill>
                            <a:schemeClr val="accent2">
                              <a:lumMod val="50000"/>
                            </a:schemeClr>
                          </a:solidFill>
                        </a:rPr>
                        <a:t>The authors review recent advancements in assistive speech technologies and emphasize the role of deep learning in improving communication accessibility for dysarthric patients. The study identifies personalized and adaptive ASR systems as key future directions.</a:t>
                      </a:r>
                      <a:endParaRPr lang="en-US" altLang="en-GB" sz="1300" dirty="0">
                        <a:solidFill>
                          <a:schemeClr val="accent2">
                            <a:lumMod val="50000"/>
                          </a:schemeClr>
                        </a:solidFill>
                      </a:endParaRPr>
                    </a:p>
                  </a:txBody>
                  <a:tcPr/>
                </a:tc>
              </a:tr>
            </a:tbl>
          </a:graphicData>
        </a:graphic>
      </p:graphicFrame>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275" y="61521"/>
            <a:ext cx="8349916" cy="507831"/>
          </a:xfrm>
        </p:spPr>
        <p:txBody>
          <a:bodyPr/>
          <a:lstStyle/>
          <a:p>
            <a:r>
              <a:rPr lang="en-US" dirty="0"/>
              <a:t>Proposed Methodology</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Grp="1" noChangeArrowheads="1"/>
          </p:cNvSpPr>
          <p:nvPr>
            <p:ph idx="1"/>
          </p:nvPr>
        </p:nvSpPr>
        <p:spPr bwMode="auto">
          <a:xfrm>
            <a:off x="212275" y="935636"/>
            <a:ext cx="7853552" cy="3138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Dysarthric speech data acquisition</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Signal preprocessing and noise reduction</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Feature extraction</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Deep learning model training</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Speech-to-text decoding</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Performance evaluation</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275" y="61521"/>
            <a:ext cx="8349916" cy="507831"/>
          </a:xfrm>
        </p:spPr>
        <p:txBody>
          <a:bodyPr/>
          <a:lstStyle/>
          <a:p>
            <a:r>
              <a:rPr lang="en-US" dirty="0"/>
              <a:t>Proposed Methodology</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Grp="1" noChangeArrowheads="1"/>
          </p:cNvSpPr>
          <p:nvPr>
            <p:ph idx="1"/>
          </p:nvPr>
        </p:nvSpPr>
        <p:spPr bwMode="auto">
          <a:xfrm>
            <a:off x="212275" y="2320571"/>
            <a:ext cx="785355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p:txBody>
      </p:sp>
      <p:pic>
        <p:nvPicPr>
          <p:cNvPr id="4" name="Picture 3"/>
          <p:cNvPicPr/>
          <p:nvPr/>
        </p:nvPicPr>
        <p:blipFill>
          <a:blip r:embed="rId1"/>
          <a:stretch>
            <a:fillRect/>
          </a:stretch>
        </p:blipFill>
        <p:spPr>
          <a:xfrm>
            <a:off x="1113126" y="639445"/>
            <a:ext cx="6536748" cy="396000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408" y="21311"/>
            <a:ext cx="8349916" cy="507831"/>
          </a:xfrm>
        </p:spPr>
        <p:txBody>
          <a:bodyPr/>
          <a:lstStyle/>
          <a:p>
            <a:r>
              <a:rPr lang="en-US" dirty="0"/>
              <a:t>Tools &amp; Technologies</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p:cNvSpPr>
            <a:spLocks noGrp="1" noChangeArrowheads="1"/>
          </p:cNvSpPr>
          <p:nvPr>
            <p:ph idx="1"/>
          </p:nvPr>
        </p:nvSpPr>
        <p:spPr bwMode="auto">
          <a:xfrm>
            <a:off x="9578" y="1224118"/>
            <a:ext cx="9134422" cy="258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Programming Language</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Python</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Deep Learning Frameworks</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TensorFlow / PyTorch</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Speech Processing</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Librosa, SpeechBrain</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Feature Extraction</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MFCC, Spectrogram analysis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Development Environment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a:t>
            </a:r>
            <a:r>
              <a:rPr kumimoji="0" lang="en-IN" altLang="en-US" sz="1800" b="0" i="0" u="none" strike="noStrike" cap="none" normalizeH="0" baseline="0" dirty="0">
                <a:ln>
                  <a:noFill/>
                </a:ln>
                <a:solidFill>
                  <a:schemeClr val="accent3">
                    <a:lumMod val="50000"/>
                  </a:schemeClr>
                </a:solidFill>
                <a:effectLst/>
                <a:latin typeface="Arial" panose="020B0604020202020204" pitchFamily="34" charset="0"/>
              </a:rPr>
              <a:t> </a:t>
            </a: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Jupyter Notebook / Google Colab</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157" y="184955"/>
            <a:ext cx="8349916" cy="507831"/>
          </a:xfrm>
        </p:spPr>
        <p:txBody>
          <a:bodyPr/>
          <a:lstStyle/>
          <a:p>
            <a:r>
              <a:rPr lang="en-US" dirty="0"/>
              <a:t>Expected Outcomes</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Grp="1" noChangeArrowheads="1"/>
          </p:cNvSpPr>
          <p:nvPr>
            <p:ph idx="1"/>
          </p:nvPr>
        </p:nvSpPr>
        <p:spPr bwMode="auto">
          <a:xfrm>
            <a:off x="116175" y="916230"/>
            <a:ext cx="8761087" cy="20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Improved speech recognition accuracy for dysarthric speech</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Reduced word error rate compared to traditional ASR</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Enhanced communication support for patients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Scalable framework adaptable to different speech disorders</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Applications &amp; Impact</a:t>
            </a:r>
            <a:endParaRPr lang="en-US" altLang="en-GB"/>
          </a:p>
        </p:txBody>
      </p:sp>
      <p:sp>
        <p:nvSpPr>
          <p:cNvPr id="3" name="Content Placeholder 2"/>
          <p:cNvSpPr>
            <a:spLocks noGrp="1"/>
          </p:cNvSpPr>
          <p:nvPr>
            <p:ph idx="1"/>
          </p:nvPr>
        </p:nvSpPr>
        <p:spPr/>
        <p:txBody>
          <a:bodyPr/>
          <a:p>
            <a:r>
              <a:rPr lang="en-US" altLang="en-GB">
                <a:solidFill>
                  <a:schemeClr val="accent3">
                    <a:lumMod val="50000"/>
                  </a:schemeClr>
                </a:solidFill>
              </a:rPr>
              <a:t>Applications:</a:t>
            </a:r>
            <a:endParaRPr lang="en-US" altLang="en-GB">
              <a:solidFill>
                <a:schemeClr val="accent3">
                  <a:lumMod val="50000"/>
                </a:schemeClr>
              </a:solidFill>
            </a:endParaRPr>
          </a:p>
          <a:p>
            <a:pPr lvl="1">
              <a:buFont typeface="Wingdings" panose="05000000000000000000" charset="0"/>
              <a:buChar char="Ø"/>
            </a:pPr>
            <a:r>
              <a:rPr lang="en-US" altLang="en-GB">
                <a:solidFill>
                  <a:schemeClr val="accent3">
                    <a:lumMod val="50000"/>
                  </a:schemeClr>
                </a:solidFill>
              </a:rPr>
              <a:t>Assistive communication tools</a:t>
            </a:r>
            <a:endParaRPr lang="en-US" altLang="en-GB">
              <a:solidFill>
                <a:schemeClr val="accent3">
                  <a:lumMod val="50000"/>
                </a:schemeClr>
              </a:solidFill>
            </a:endParaRPr>
          </a:p>
          <a:p>
            <a:pPr lvl="1">
              <a:buFont typeface="Wingdings" panose="05000000000000000000" charset="0"/>
              <a:buChar char="Ø"/>
            </a:pPr>
            <a:r>
              <a:rPr lang="en-US" altLang="en-GB">
                <a:solidFill>
                  <a:schemeClr val="accent3">
                    <a:lumMod val="50000"/>
                  </a:schemeClr>
                </a:solidFill>
              </a:rPr>
              <a:t>Voice-enabled accessibility systems</a:t>
            </a:r>
            <a:endParaRPr lang="en-US" altLang="en-GB">
              <a:solidFill>
                <a:schemeClr val="accent3">
                  <a:lumMod val="50000"/>
                </a:schemeClr>
              </a:solidFill>
            </a:endParaRPr>
          </a:p>
          <a:p>
            <a:pPr lvl="1">
              <a:buFont typeface="Wingdings" panose="05000000000000000000" charset="0"/>
              <a:buChar char="Ø"/>
            </a:pPr>
            <a:r>
              <a:rPr lang="en-US" altLang="en-GB">
                <a:solidFill>
                  <a:schemeClr val="accent3">
                    <a:lumMod val="50000"/>
                  </a:schemeClr>
                </a:solidFill>
              </a:rPr>
              <a:t>Cl</a:t>
            </a:r>
            <a:r>
              <a:rPr lang="en-IN" altLang="en-US">
                <a:solidFill>
                  <a:schemeClr val="accent3">
                    <a:lumMod val="50000"/>
                  </a:schemeClr>
                </a:solidFill>
              </a:rPr>
              <a:t>i</a:t>
            </a:r>
            <a:r>
              <a:rPr lang="en-US" altLang="en-GB">
                <a:solidFill>
                  <a:schemeClr val="accent3">
                    <a:lumMod val="50000"/>
                  </a:schemeClr>
                </a:solidFill>
              </a:rPr>
              <a:t>nical speech therapy support</a:t>
            </a:r>
            <a:endParaRPr lang="en-US" altLang="en-GB">
              <a:solidFill>
                <a:schemeClr val="accent3">
                  <a:lumMod val="50000"/>
                </a:schemeClr>
              </a:solidFill>
            </a:endParaRPr>
          </a:p>
          <a:p>
            <a:r>
              <a:rPr lang="en-US" altLang="en-GB">
                <a:solidFill>
                  <a:schemeClr val="accent3">
                    <a:lumMod val="50000"/>
                  </a:schemeClr>
                </a:solidFill>
              </a:rPr>
              <a:t>Impact:</a:t>
            </a:r>
            <a:endParaRPr lang="en-US" altLang="en-GB">
              <a:solidFill>
                <a:schemeClr val="accent3">
                  <a:lumMod val="50000"/>
                </a:schemeClr>
              </a:solidFill>
            </a:endParaRPr>
          </a:p>
          <a:p>
            <a:pPr lvl="1">
              <a:buFont typeface="Wingdings" panose="05000000000000000000" charset="0"/>
              <a:buChar char="Ø"/>
            </a:pPr>
            <a:r>
              <a:rPr lang="en-US" altLang="en-GB">
                <a:solidFill>
                  <a:schemeClr val="accent3">
                    <a:lumMod val="50000"/>
                  </a:schemeClr>
                </a:solidFill>
              </a:rPr>
              <a:t>Imp</a:t>
            </a:r>
            <a:r>
              <a:rPr lang="en-IN" altLang="en-US">
                <a:solidFill>
                  <a:schemeClr val="accent3">
                    <a:lumMod val="50000"/>
                  </a:schemeClr>
                </a:solidFill>
              </a:rPr>
              <a:t>r</a:t>
            </a:r>
            <a:r>
              <a:rPr lang="en-US" altLang="en-GB">
                <a:solidFill>
                  <a:schemeClr val="accent3">
                    <a:lumMod val="50000"/>
                  </a:schemeClr>
                </a:solidFill>
              </a:rPr>
              <a:t>oved quality of life</a:t>
            </a:r>
            <a:endParaRPr lang="en-US" altLang="en-GB">
              <a:solidFill>
                <a:schemeClr val="accent3">
                  <a:lumMod val="50000"/>
                </a:schemeClr>
              </a:solidFill>
            </a:endParaRPr>
          </a:p>
          <a:p>
            <a:pPr lvl="1">
              <a:buFont typeface="Wingdings" panose="05000000000000000000" charset="0"/>
              <a:buChar char="Ø"/>
            </a:pPr>
            <a:r>
              <a:rPr lang="en-US" altLang="en-GB">
                <a:solidFill>
                  <a:schemeClr val="accent3">
                    <a:lumMod val="50000"/>
                  </a:schemeClr>
                </a:solidFill>
              </a:rPr>
              <a:t>Increased digital accessibility</a:t>
            </a:r>
            <a:endParaRPr lang="en-US" altLang="en-GB">
              <a:solidFill>
                <a:schemeClr val="accent3">
                  <a:lumMod val="50000"/>
                </a:schemeClr>
              </a:solidFill>
            </a:endParaRPr>
          </a:p>
          <a:p>
            <a:pPr lvl="1">
              <a:buFont typeface="Wingdings" panose="05000000000000000000" charset="0"/>
              <a:buChar char="Ø"/>
            </a:pPr>
            <a:r>
              <a:rPr lang="en-US" altLang="en-GB">
                <a:solidFill>
                  <a:schemeClr val="accent3">
                    <a:lumMod val="50000"/>
                  </a:schemeClr>
                </a:solidFill>
              </a:rPr>
              <a:t>Social and technological inclusion</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Advantages of Proposed System</a:t>
            </a:r>
            <a:endParaRPr lang="en-US" altLang="en-GB"/>
          </a:p>
        </p:txBody>
      </p:sp>
      <p:sp>
        <p:nvSpPr>
          <p:cNvPr id="3" name="Content Placeholder 2"/>
          <p:cNvSpPr>
            <a:spLocks noGrp="1"/>
          </p:cNvSpPr>
          <p:nvPr>
            <p:ph idx="1"/>
          </p:nvPr>
        </p:nvSpPr>
        <p:spPr/>
        <p:txBody>
          <a:bodyPr/>
          <a:p>
            <a:r>
              <a:rPr lang="en-US" altLang="en-GB">
                <a:solidFill>
                  <a:schemeClr val="accent3">
                    <a:lumMod val="50000"/>
                  </a:schemeClr>
                </a:solidFill>
              </a:rPr>
              <a:t>Tailored for dysarthric speech patterns</a:t>
            </a:r>
            <a:endParaRPr lang="en-US" altLang="en-GB">
              <a:solidFill>
                <a:schemeClr val="accent3">
                  <a:lumMod val="50000"/>
                </a:schemeClr>
              </a:solidFill>
            </a:endParaRPr>
          </a:p>
          <a:p>
            <a:r>
              <a:rPr lang="en-US" altLang="en-GB">
                <a:solidFill>
                  <a:schemeClr val="accent3">
                    <a:lumMod val="50000"/>
                  </a:schemeClr>
                </a:solidFill>
              </a:rPr>
              <a:t>Deep learning–based adaptive learning</a:t>
            </a:r>
            <a:endParaRPr lang="en-US" altLang="en-GB">
              <a:solidFill>
                <a:schemeClr val="accent3">
                  <a:lumMod val="50000"/>
                </a:schemeClr>
              </a:solidFill>
            </a:endParaRPr>
          </a:p>
          <a:p>
            <a:r>
              <a:rPr lang="en-US" altLang="en-GB">
                <a:solidFill>
                  <a:schemeClr val="accent3">
                    <a:lumMod val="50000"/>
                  </a:schemeClr>
                </a:solidFill>
              </a:rPr>
              <a:t>Higher robustness to speech variability</a:t>
            </a:r>
            <a:endParaRPr lang="en-US" altLang="en-GB">
              <a:solidFill>
                <a:schemeClr val="accent3">
                  <a:lumMod val="50000"/>
                </a:schemeClr>
              </a:solidFill>
            </a:endParaRPr>
          </a:p>
          <a:p>
            <a:r>
              <a:rPr lang="en-US" altLang="en-GB">
                <a:solidFill>
                  <a:schemeClr val="accent3">
                    <a:lumMod val="50000"/>
                  </a:schemeClr>
                </a:solidFill>
              </a:rPr>
              <a:t>Can be extended to multilingual support</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Conclusion</a:t>
            </a:r>
            <a:endParaRPr lang="en-US" altLang="en-GB"/>
          </a:p>
        </p:txBody>
      </p:sp>
      <p:sp>
        <p:nvSpPr>
          <p:cNvPr id="3" name="Content Placeholder 2"/>
          <p:cNvSpPr>
            <a:spLocks noGrp="1"/>
          </p:cNvSpPr>
          <p:nvPr>
            <p:ph idx="1"/>
          </p:nvPr>
        </p:nvSpPr>
        <p:spPr/>
        <p:txBody>
          <a:bodyPr/>
          <a:p>
            <a:pPr marL="0" indent="0">
              <a:lnSpc>
                <a:spcPct val="150000"/>
              </a:lnSpc>
              <a:buNone/>
            </a:pPr>
            <a:r>
              <a:rPr lang="en-US" altLang="en-GB">
                <a:solidFill>
                  <a:schemeClr val="accent3">
                    <a:lumMod val="50000"/>
                  </a:schemeClr>
                </a:solidFill>
              </a:rPr>
              <a:t>The proposed deep learning framework provides an effective and inclusive speech-to-text solution for dysarthric patients, addressing limitations of conventional ASR systems.</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071" y="78760"/>
            <a:ext cx="8349916" cy="507831"/>
          </a:xfrm>
        </p:spPr>
        <p:txBody>
          <a:bodyPr/>
          <a:lstStyle/>
          <a:p>
            <a:r>
              <a:rPr lang="en-US" dirty="0"/>
              <a:t>References</a:t>
            </a:r>
            <a:endParaRPr lang="en-US" b="1" dirty="0"/>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p:cNvSpPr>
            <a:spLocks noGrp="1" noChangeArrowheads="1"/>
          </p:cNvSpPr>
          <p:nvPr>
            <p:ph idx="1"/>
          </p:nvPr>
        </p:nvSpPr>
        <p:spPr bwMode="auto">
          <a:xfrm>
            <a:off x="132407" y="1279525"/>
            <a:ext cx="8423580" cy="258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Deep Learning Approaches for Dysarthric Speech Recognition, IEEE Access, 2024</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Transformer-Based ASR for Disordered Speech, Speech Communication, 2024</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Advances in Assistive Speech Technologies for Dysarthria, Elsevier AI in Healthcare, 2025</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GB" sz="1800" b="0" i="0" u="none" strike="noStrike" cap="none" normalizeH="0" baseline="0" dirty="0">
                <a:ln>
                  <a:noFill/>
                </a:ln>
                <a:solidFill>
                  <a:schemeClr val="accent3">
                    <a:lumMod val="50000"/>
                  </a:schemeClr>
                </a:solidFill>
                <a:effectLst/>
                <a:latin typeface="Arial" panose="020B0604020202020204" pitchFamily="34" charset="0"/>
              </a:rPr>
              <a:t>Robust Acoustic Modeling for Pathological Speech Recognition, Sensors, 2024</a:t>
            </a:r>
            <a:endParaRPr kumimoji="0" lang="en-US" altLang="en-GB" sz="1800" b="0" i="0" u="none" strike="noStrike" cap="none" normalizeH="0" baseline="0" dirty="0">
              <a:ln>
                <a:noFill/>
              </a:ln>
              <a:solidFill>
                <a:schemeClr val="accent3">
                  <a:lumMod val="50000"/>
                </a:schemeClr>
              </a:solidFill>
              <a:effectLst/>
              <a:latin typeface="Arial" panose="020B0604020202020204" pitchFamily="34" charset="0"/>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sp>
        <p:nvSpPr>
          <p:cNvPr id="3" name="Content Placeholder 2"/>
          <p:cNvSpPr>
            <a:spLocks noGrp="1"/>
          </p:cNvSpPr>
          <p:nvPr>
            <p:ph idx="1"/>
          </p:nvPr>
        </p:nvSpPr>
        <p:spPr>
          <a:xfrm>
            <a:off x="3649345" y="2238375"/>
            <a:ext cx="1844675" cy="387985"/>
          </a:xfrm>
        </p:spPr>
        <p:txBody>
          <a:bodyPr/>
          <a:p>
            <a:pPr marL="0" indent="0">
              <a:buNone/>
            </a:pPr>
            <a:r>
              <a:rPr lang="en-IN" altLang="en-GB"/>
              <a:t>THANK YOU</a:t>
            </a:r>
            <a:endParaRPr lang="en-IN" altLang="en-GB"/>
          </a:p>
        </p:txBody>
      </p:sp>
      <p:sp>
        <p:nvSpPr>
          <p:cNvPr id="4" name="Text Placeholder 3"/>
          <p:cNvSpPr>
            <a:spLocks noGrp="1"/>
          </p:cNvSpPr>
          <p:nvPr>
            <p:ph type="body" sz="quarter" idx="12"/>
          </p:nvPr>
        </p:nvSpPr>
        <p:spPr>
          <a:xfrm>
            <a:off x="442762" y="890114"/>
            <a:ext cx="8349916" cy="391296"/>
          </a:xfrm>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tags/tag1.xml><?xml version="1.0" encoding="utf-8"?>
<p:tagLst xmlns:p="http://schemas.openxmlformats.org/presentationml/2006/main">
  <p:tag name="TABLE_ENDDRAG_ORIGIN_RECT" val="651*375"/>
  <p:tag name="TABLE_ENDDRAG_RECT" val="0*0*651*375"/>
</p:tagLst>
</file>

<file path=ppt/tags/tag2.xml><?xml version="1.0" encoding="utf-8"?>
<p:tagLst xmlns:p="http://schemas.openxmlformats.org/presentationml/2006/main">
  <p:tag name="TABLE_ENDDRAG_ORIGIN_RECT" val="651*375"/>
  <p:tag name="TABLE_ENDDRAG_RECT" val="0*0*651*375"/>
</p:tagLst>
</file>

<file path=ppt/theme/theme1.xml><?xml version="1.0" encoding="utf-8"?>
<a:theme xmlns:a="http://schemas.openxmlformats.org/drawingml/2006/main" name="MC Powerpoint Template">
  <a:themeElements>
    <a:clrScheme name="Custom 1">
      <a:dk1>
        <a:srgbClr val="005094"/>
      </a:dk1>
      <a:lt1>
        <a:srgbClr val="FFFFFF"/>
      </a:lt1>
      <a:dk2>
        <a:srgbClr val="FFFFFF"/>
      </a:dk2>
      <a:lt2>
        <a:srgbClr val="FFFFFF"/>
      </a:lt2>
      <a:accent1>
        <a:srgbClr val="005094"/>
      </a:accent1>
      <a:accent2>
        <a:srgbClr val="525252"/>
      </a:accent2>
      <a:accent3>
        <a:srgbClr val="525252"/>
      </a:accent3>
      <a:accent4>
        <a:srgbClr val="005094"/>
      </a:accent4>
      <a:accent5>
        <a:srgbClr val="525252"/>
      </a:accent5>
      <a:accent6>
        <a:srgbClr val="005094"/>
      </a:accent6>
      <a:hlink>
        <a:srgbClr val="525252"/>
      </a:hlink>
      <a:folHlink>
        <a:srgbClr val="005094"/>
      </a:folHlink>
    </a:clrScheme>
    <a:fontScheme name="Montgomery Colle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51237F"/>
        </a:solidFill>
        <a:ln w="19050" algn="ctr">
          <a:noFill/>
          <a:miter lim="800000"/>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ln>
      </a:spPr>
      <a:bodyPr wrap="square" lIns="0" tIns="0" rIns="0" bIns="0" rtlCol="0">
        <a:spAutoFit/>
      </a:bodyPr>
      <a:lstStyle>
        <a:defPPr>
          <a:defRPr sz="2000"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6608</Words>
  <Application>WPS Presentation</Application>
  <PresentationFormat>On-screen Show (16:9)</PresentationFormat>
  <Paragraphs>234</Paragraphs>
  <Slides>18</Slides>
  <Notes>11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Roboto</vt:lpstr>
      <vt:lpstr>Times New Roman</vt:lpstr>
      <vt:lpstr>Wingdings</vt:lpstr>
      <vt:lpstr>Microsoft YaHei</vt:lpstr>
      <vt:lpstr>Arial Unicode MS</vt:lpstr>
      <vt:lpstr>Garamond</vt:lpstr>
      <vt:lpstr>MC Powerpoint Template</vt:lpstr>
      <vt:lpstr>STUDENT LEARNING MODELS   Review-1</vt:lpstr>
      <vt:lpstr>Abstract</vt:lpstr>
      <vt:lpstr>Introduction</vt:lpstr>
      <vt:lpstr>Introduction</vt:lpstr>
      <vt:lpstr>Problem Identification</vt:lpstr>
      <vt:lpstr>Objectives</vt:lpstr>
      <vt:lpstr>Literature Review</vt:lpstr>
      <vt:lpstr>PowerPoint 演示文稿</vt:lpstr>
      <vt:lpstr>PowerPoint 演示文稿</vt:lpstr>
      <vt:lpstr>Proposed Methodology</vt:lpstr>
      <vt:lpstr>Proposed Methodology</vt:lpstr>
      <vt:lpstr>Tools &amp; Technologies</vt:lpstr>
      <vt:lpstr>Expected Outcomes</vt:lpstr>
      <vt:lpstr>Applications &amp; Impact</vt:lpstr>
      <vt:lpstr>Advantages of Proposed System</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Mounika Annam</dc:creator>
  <cp:lastModifiedBy>ashok</cp:lastModifiedBy>
  <cp:revision>118</cp:revision>
  <dcterms:created xsi:type="dcterms:W3CDTF">2016-09-09T13:34:00Z</dcterms:created>
  <dcterms:modified xsi:type="dcterms:W3CDTF">2026-01-31T07:21:55Z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C6AE7CA0469043DA962092B4883A7A0E_13</vt:lpwstr>
  </property>
  <property fmtid="{D5CDD505-2E9C-101B-9397-08002B2CF9AE}" pid="3" name="KSOProductBuildVer">
    <vt:lpwstr>2057-12.2.0.23155</vt:lpwstr>
  </property>
</Properties>
</file>